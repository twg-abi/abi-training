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23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2663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937760" cy="4937760"/>
          </a:xfrm>
          <a:prstGeom prst="ellipse">
            <a:avLst/>
          </a:prstGeom>
          <a:solidFill>
            <a:srgbClr val="1E2A4A"/>
          </a:solidFill>
          <a:ln/>
        </p:spPr>
        <p:txBody>
          <a:bodyPr/>
          <a:lstStyle/>
          <a:p>
            <a:endParaRPr lang="en-UG"/>
          </a:p>
        </p:txBody>
      </p:sp>
      <p:sp>
        <p:nvSpPr>
          <p:cNvPr id="3" name="Shape 1"/>
          <p:cNvSpPr/>
          <p:nvPr/>
        </p:nvSpPr>
        <p:spPr>
          <a:xfrm>
            <a:off x="10607040" y="4023360"/>
            <a:ext cx="4206240" cy="4206240"/>
          </a:xfrm>
          <a:prstGeom prst="ellipse">
            <a:avLst/>
          </a:prstGeom>
          <a:solidFill>
            <a:srgbClr val="1E2A4A"/>
          </a:solidFill>
          <a:ln/>
        </p:spPr>
        <p:txBody>
          <a:bodyPr/>
          <a:lstStyle/>
          <a:p>
            <a:endParaRPr lang="en-UG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0" y="502920"/>
            <a:ext cx="1828800" cy="1828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554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GENOMICS  ·  BIOINFORMATICS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77240" y="2011680"/>
            <a:ext cx="8595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</a:t>
            </a:r>
            <a:endParaRPr lang="en-US" sz="5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Variant Calling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822960" y="4069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C7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sequencing reads to interpretable genomic variants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841248" y="4800600"/>
            <a:ext cx="2011680" cy="0"/>
          </a:xfrm>
          <a:prstGeom prst="line">
            <a:avLst/>
          </a:prstGeom>
          <a:noFill/>
          <a:ln w="31750">
            <a:solidFill>
              <a:srgbClr val="0E9594"/>
            </a:solidFill>
            <a:prstDash val="solid"/>
          </a:ln>
        </p:spPr>
        <p:txBody>
          <a:bodyPr/>
          <a:lstStyle/>
          <a:p>
            <a:endParaRPr lang="en-UG"/>
          </a:p>
        </p:txBody>
      </p:sp>
      <p:sp>
        <p:nvSpPr>
          <p:cNvPr id="9" name="Text 6"/>
          <p:cNvSpPr/>
          <p:nvPr/>
        </p:nvSpPr>
        <p:spPr>
          <a:xfrm>
            <a:off x="822960" y="49834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technical overview of the germline short-variant workflow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658368" cy="658368"/>
          </a:xfrm>
          <a:prstGeom prst="ellipse">
            <a:avLst/>
          </a:prstGeom>
          <a:solidFill>
            <a:srgbClr val="0E9594"/>
          </a:solidFill>
          <a:ln/>
          <a:effectLst>
            <a:outerShdw blurRad="889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en-U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968" y="660928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27632" y="502920"/>
            <a:ext cx="10058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Variant Calling?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822960" y="1508760"/>
            <a:ext cx="58521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0E9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Variant calling</a:t>
            </a:r>
            <a:r>
              <a:rPr lang="en-US" sz="1700" dirty="0">
                <a:solidFill>
                  <a:srgbClr val="1F2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the process of identifying positions where an individual's genome differs from a reference genome (e.g., GRCh38), and genotyping those differences from aligned sequencing reads.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822960" y="297180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 in human genomics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68680" y="3483864"/>
            <a:ext cx="118872" cy="118872"/>
          </a:xfrm>
          <a:prstGeom prst="ellipse">
            <a:avLst/>
          </a:prstGeom>
          <a:solidFill>
            <a:srgbClr val="F4A259"/>
          </a:solidFill>
          <a:ln/>
        </p:spPr>
        <p:txBody>
          <a:bodyPr/>
          <a:lstStyle/>
          <a:p>
            <a:endParaRPr lang="en-UG"/>
          </a:p>
        </p:txBody>
      </p:sp>
      <p:sp>
        <p:nvSpPr>
          <p:cNvPr id="8" name="Text 5"/>
          <p:cNvSpPr/>
          <p:nvPr/>
        </p:nvSpPr>
        <p:spPr>
          <a:xfrm>
            <a:off x="1143000" y="3374136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F2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genome carries ~4–5 million variants vs. the reference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868680" y="4087368"/>
            <a:ext cx="118872" cy="118872"/>
          </a:xfrm>
          <a:prstGeom prst="ellipse">
            <a:avLst/>
          </a:prstGeom>
          <a:solidFill>
            <a:srgbClr val="F4A259"/>
          </a:solidFill>
          <a:ln/>
        </p:spPr>
        <p:txBody>
          <a:bodyPr/>
          <a:lstStyle/>
          <a:p>
            <a:endParaRPr lang="en-UG"/>
          </a:p>
        </p:txBody>
      </p:sp>
      <p:sp>
        <p:nvSpPr>
          <p:cNvPr id="10" name="Text 7"/>
          <p:cNvSpPr/>
          <p:nvPr/>
        </p:nvSpPr>
        <p:spPr>
          <a:xfrm>
            <a:off x="1143000" y="397764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F2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Variants underlie disease risk, drug response &amp; population diversity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868680" y="4690872"/>
            <a:ext cx="118872" cy="118872"/>
          </a:xfrm>
          <a:prstGeom prst="ellipse">
            <a:avLst/>
          </a:prstGeom>
          <a:solidFill>
            <a:srgbClr val="F4A259"/>
          </a:solidFill>
          <a:ln/>
        </p:spPr>
        <p:txBody>
          <a:bodyPr/>
          <a:lstStyle/>
          <a:p>
            <a:endParaRPr lang="en-UG"/>
          </a:p>
        </p:txBody>
      </p:sp>
      <p:sp>
        <p:nvSpPr>
          <p:cNvPr id="12" name="Text 9"/>
          <p:cNvSpPr/>
          <p:nvPr/>
        </p:nvSpPr>
        <p:spPr>
          <a:xfrm>
            <a:off x="1143000" y="4581144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F2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for rare-disease diagnosis, oncology &amp; population studies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7086600" y="1463040"/>
            <a:ext cx="4343400" cy="4069080"/>
          </a:xfrm>
          <a:prstGeom prst="roundRect">
            <a:avLst>
              <a:gd name="adj" fmla="val 2697"/>
            </a:avLst>
          </a:prstGeom>
          <a:solidFill>
            <a:srgbClr val="141B34"/>
          </a:solidFill>
          <a:ln/>
          <a:effectLst>
            <a:outerShdw blurRad="889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en-UG"/>
          </a:p>
        </p:txBody>
      </p:sp>
      <p:sp>
        <p:nvSpPr>
          <p:cNvPr id="14" name="Text 11"/>
          <p:cNvSpPr/>
          <p:nvPr/>
        </p:nvSpPr>
        <p:spPr>
          <a:xfrm>
            <a:off x="7406640" y="1691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NUMBERS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406640" y="219456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~3.2 Gb</a:t>
            </a:r>
            <a:endParaRPr lang="en-US" sz="3800" dirty="0"/>
          </a:p>
        </p:txBody>
      </p:sp>
      <p:sp>
        <p:nvSpPr>
          <p:cNvPr id="16" name="Text 13"/>
          <p:cNvSpPr/>
          <p:nvPr/>
        </p:nvSpPr>
        <p:spPr>
          <a:xfrm>
            <a:off x="7406640" y="285292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EB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haploid genome size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7406640" y="3310128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~4–5 M</a:t>
            </a:r>
            <a:endParaRPr lang="en-US" sz="3800" dirty="0"/>
          </a:p>
        </p:txBody>
      </p:sp>
      <p:sp>
        <p:nvSpPr>
          <p:cNvPr id="18" name="Text 15"/>
          <p:cNvSpPr/>
          <p:nvPr/>
        </p:nvSpPr>
        <p:spPr>
          <a:xfrm>
            <a:off x="7406640" y="3968496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EB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Variants per individual genome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7406640" y="4425696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~30×</a:t>
            </a:r>
            <a:endParaRPr lang="en-US" sz="3800" dirty="0"/>
          </a:p>
        </p:txBody>
      </p:sp>
      <p:sp>
        <p:nvSpPr>
          <p:cNvPr id="20" name="Text 17"/>
          <p:cNvSpPr/>
          <p:nvPr/>
        </p:nvSpPr>
        <p:spPr>
          <a:xfrm>
            <a:off x="7406640" y="5084064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EB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WGS read depth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658368" cy="658368"/>
          </a:xfrm>
          <a:prstGeom prst="ellipse">
            <a:avLst/>
          </a:prstGeom>
          <a:solidFill>
            <a:srgbClr val="0E9594"/>
          </a:solidFill>
          <a:ln/>
          <a:effectLst>
            <a:outerShdw blurRad="889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en-U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968" y="660928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27632" y="502920"/>
            <a:ext cx="10058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Variant Calling Workflow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typical short-read DNA pipeline, from instrument output to annotated variants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822960" y="2148840"/>
            <a:ext cx="1904329" cy="3246120"/>
          </a:xfrm>
          <a:prstGeom prst="roundRect">
            <a:avLst>
              <a:gd name="adj" fmla="val 4802"/>
            </a:avLst>
          </a:prstGeom>
          <a:solidFill>
            <a:srgbClr val="F2F6F9"/>
          </a:solidFill>
          <a:ln/>
          <a:effectLst>
            <a:outerShdw blurRad="889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en-UG"/>
          </a:p>
        </p:txBody>
      </p:sp>
      <p:sp>
        <p:nvSpPr>
          <p:cNvPr id="7" name="Shape 4"/>
          <p:cNvSpPr/>
          <p:nvPr/>
        </p:nvSpPr>
        <p:spPr>
          <a:xfrm>
            <a:off x="1363645" y="2441448"/>
            <a:ext cx="822960" cy="822960"/>
          </a:xfrm>
          <a:prstGeom prst="ellipse">
            <a:avLst/>
          </a:prstGeom>
          <a:solidFill>
            <a:srgbClr val="17A2B8"/>
          </a:solidFill>
          <a:ln/>
          <a:effectLst>
            <a:outerShdw blurRad="889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en-UG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1155" y="2638958"/>
            <a:ext cx="427939" cy="42793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32688" y="225856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A2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896112" y="3447288"/>
            <a:ext cx="175802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41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Sequencing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896112" y="3931920"/>
            <a:ext cx="175802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reads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1024128" y="4828032"/>
            <a:ext cx="1501993" cy="384048"/>
          </a:xfrm>
          <a:prstGeom prst="roundRect">
            <a:avLst>
              <a:gd name="adj" fmla="val 14286"/>
            </a:avLst>
          </a:prstGeom>
          <a:solidFill>
            <a:srgbClr val="141B34"/>
          </a:solidFill>
          <a:ln/>
        </p:spPr>
        <p:txBody>
          <a:bodyPr/>
          <a:lstStyle/>
          <a:p>
            <a:endParaRPr lang="en-UG"/>
          </a:p>
        </p:txBody>
      </p:sp>
      <p:sp>
        <p:nvSpPr>
          <p:cNvPr id="13" name="Text 9"/>
          <p:cNvSpPr/>
          <p:nvPr/>
        </p:nvSpPr>
        <p:spPr>
          <a:xfrm>
            <a:off x="1024128" y="4828032"/>
            <a:ext cx="150199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FASTQ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2690713" y="3451860"/>
            <a:ext cx="3291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15" name="Shape 11"/>
          <p:cNvSpPr/>
          <p:nvPr/>
        </p:nvSpPr>
        <p:spPr>
          <a:xfrm>
            <a:off x="2983321" y="2148840"/>
            <a:ext cx="1904329" cy="3246120"/>
          </a:xfrm>
          <a:prstGeom prst="roundRect">
            <a:avLst>
              <a:gd name="adj" fmla="val 4802"/>
            </a:avLst>
          </a:prstGeom>
          <a:solidFill>
            <a:srgbClr val="F2F6F9"/>
          </a:solidFill>
          <a:ln/>
          <a:effectLst>
            <a:outerShdw blurRad="889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en-UG"/>
          </a:p>
        </p:txBody>
      </p:sp>
      <p:sp>
        <p:nvSpPr>
          <p:cNvPr id="16" name="Shape 12"/>
          <p:cNvSpPr/>
          <p:nvPr/>
        </p:nvSpPr>
        <p:spPr>
          <a:xfrm>
            <a:off x="3524006" y="2441448"/>
            <a:ext cx="822960" cy="822960"/>
          </a:xfrm>
          <a:prstGeom prst="ellipse">
            <a:avLst/>
          </a:prstGeom>
          <a:solidFill>
            <a:srgbClr val="0E9594"/>
          </a:solidFill>
          <a:ln/>
          <a:effectLst>
            <a:outerShdw blurRad="889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en-UG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1517" y="2638958"/>
            <a:ext cx="427939" cy="42793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093049" y="225856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95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3056473" y="3447288"/>
            <a:ext cx="175802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41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Alignment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3056473" y="3931920"/>
            <a:ext cx="175802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to reference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3184489" y="4828032"/>
            <a:ext cx="1501993" cy="384048"/>
          </a:xfrm>
          <a:prstGeom prst="roundRect">
            <a:avLst>
              <a:gd name="adj" fmla="val 14286"/>
            </a:avLst>
          </a:prstGeom>
          <a:solidFill>
            <a:srgbClr val="141B34"/>
          </a:solidFill>
          <a:ln/>
        </p:spPr>
        <p:txBody>
          <a:bodyPr/>
          <a:lstStyle/>
          <a:p>
            <a:endParaRPr lang="en-UG"/>
          </a:p>
        </p:txBody>
      </p:sp>
      <p:sp>
        <p:nvSpPr>
          <p:cNvPr id="22" name="Text 17"/>
          <p:cNvSpPr/>
          <p:nvPr/>
        </p:nvSpPr>
        <p:spPr>
          <a:xfrm>
            <a:off x="3184489" y="4828032"/>
            <a:ext cx="150199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BAM / CRAM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4851075" y="3451860"/>
            <a:ext cx="3291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E9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24" name="Shape 19"/>
          <p:cNvSpPr/>
          <p:nvPr/>
        </p:nvSpPr>
        <p:spPr>
          <a:xfrm>
            <a:off x="5143683" y="2148840"/>
            <a:ext cx="1904329" cy="3246120"/>
          </a:xfrm>
          <a:prstGeom prst="roundRect">
            <a:avLst>
              <a:gd name="adj" fmla="val 4802"/>
            </a:avLst>
          </a:prstGeom>
          <a:solidFill>
            <a:srgbClr val="F2F6F9"/>
          </a:solidFill>
          <a:ln/>
          <a:effectLst>
            <a:outerShdw blurRad="889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en-UG"/>
          </a:p>
        </p:txBody>
      </p:sp>
      <p:sp>
        <p:nvSpPr>
          <p:cNvPr id="25" name="Shape 20"/>
          <p:cNvSpPr/>
          <p:nvPr/>
        </p:nvSpPr>
        <p:spPr>
          <a:xfrm>
            <a:off x="5684368" y="2441448"/>
            <a:ext cx="822960" cy="822960"/>
          </a:xfrm>
          <a:prstGeom prst="ellipse">
            <a:avLst/>
          </a:prstGeom>
          <a:solidFill>
            <a:srgbClr val="2EC4B6"/>
          </a:solidFill>
          <a:ln/>
          <a:effectLst>
            <a:outerShdw blurRad="889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en-UG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81878" y="2638958"/>
            <a:ext cx="427939" cy="427939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253411" y="225856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8" name="Text 22"/>
          <p:cNvSpPr/>
          <p:nvPr/>
        </p:nvSpPr>
        <p:spPr>
          <a:xfrm>
            <a:off x="5216835" y="3447288"/>
            <a:ext cx="175802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41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Variant Calling</a:t>
            </a:r>
            <a:endParaRPr lang="en-US" sz="1450" dirty="0"/>
          </a:p>
        </p:txBody>
      </p:sp>
      <p:sp>
        <p:nvSpPr>
          <p:cNvPr id="29" name="Text 23"/>
          <p:cNvSpPr/>
          <p:nvPr/>
        </p:nvSpPr>
        <p:spPr>
          <a:xfrm>
            <a:off x="5216835" y="3931920"/>
            <a:ext cx="175802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differences</a:t>
            </a:r>
            <a:endParaRPr lang="en-US" sz="1150" dirty="0"/>
          </a:p>
        </p:txBody>
      </p:sp>
      <p:sp>
        <p:nvSpPr>
          <p:cNvPr id="30" name="Shape 24"/>
          <p:cNvSpPr/>
          <p:nvPr/>
        </p:nvSpPr>
        <p:spPr>
          <a:xfrm>
            <a:off x="5344851" y="4828032"/>
            <a:ext cx="1501993" cy="384048"/>
          </a:xfrm>
          <a:prstGeom prst="roundRect">
            <a:avLst>
              <a:gd name="adj" fmla="val 14286"/>
            </a:avLst>
          </a:prstGeom>
          <a:solidFill>
            <a:srgbClr val="141B34"/>
          </a:solidFill>
          <a:ln/>
        </p:spPr>
        <p:txBody>
          <a:bodyPr/>
          <a:lstStyle/>
          <a:p>
            <a:endParaRPr lang="en-UG"/>
          </a:p>
        </p:txBody>
      </p:sp>
      <p:sp>
        <p:nvSpPr>
          <p:cNvPr id="31" name="Text 25"/>
          <p:cNvSpPr/>
          <p:nvPr/>
        </p:nvSpPr>
        <p:spPr>
          <a:xfrm>
            <a:off x="5344851" y="4828032"/>
            <a:ext cx="150199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VCF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7011436" y="3451860"/>
            <a:ext cx="3291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33" name="Shape 27"/>
          <p:cNvSpPr/>
          <p:nvPr/>
        </p:nvSpPr>
        <p:spPr>
          <a:xfrm>
            <a:off x="7304044" y="2148840"/>
            <a:ext cx="1904329" cy="3246120"/>
          </a:xfrm>
          <a:prstGeom prst="roundRect">
            <a:avLst>
              <a:gd name="adj" fmla="val 4802"/>
            </a:avLst>
          </a:prstGeom>
          <a:solidFill>
            <a:srgbClr val="F2F6F9"/>
          </a:solidFill>
          <a:ln/>
          <a:effectLst>
            <a:outerShdw blurRad="889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en-UG"/>
          </a:p>
        </p:txBody>
      </p:sp>
      <p:sp>
        <p:nvSpPr>
          <p:cNvPr id="34" name="Shape 28"/>
          <p:cNvSpPr/>
          <p:nvPr/>
        </p:nvSpPr>
        <p:spPr>
          <a:xfrm>
            <a:off x="7844729" y="2441448"/>
            <a:ext cx="822960" cy="822960"/>
          </a:xfrm>
          <a:prstGeom prst="ellipse">
            <a:avLst/>
          </a:prstGeom>
          <a:solidFill>
            <a:srgbClr val="F4A259"/>
          </a:solidFill>
          <a:ln/>
          <a:effectLst>
            <a:outerShdw blurRad="889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en-UG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2239" y="2638958"/>
            <a:ext cx="427939" cy="427939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7413772" y="225856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A2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37" name="Text 30"/>
          <p:cNvSpPr/>
          <p:nvPr/>
        </p:nvSpPr>
        <p:spPr>
          <a:xfrm>
            <a:off x="7377196" y="3447288"/>
            <a:ext cx="175802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41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Filtering &amp; QC</a:t>
            </a:r>
            <a:endParaRPr lang="en-US" sz="1450" dirty="0"/>
          </a:p>
        </p:txBody>
      </p:sp>
      <p:sp>
        <p:nvSpPr>
          <p:cNvPr id="38" name="Text 31"/>
          <p:cNvSpPr/>
          <p:nvPr/>
        </p:nvSpPr>
        <p:spPr>
          <a:xfrm>
            <a:off x="7377196" y="3931920"/>
            <a:ext cx="175802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artifacts</a:t>
            </a:r>
            <a:endParaRPr lang="en-US" sz="1150" dirty="0"/>
          </a:p>
        </p:txBody>
      </p:sp>
      <p:sp>
        <p:nvSpPr>
          <p:cNvPr id="39" name="Shape 32"/>
          <p:cNvSpPr/>
          <p:nvPr/>
        </p:nvSpPr>
        <p:spPr>
          <a:xfrm>
            <a:off x="7505212" y="4828032"/>
            <a:ext cx="1501993" cy="384048"/>
          </a:xfrm>
          <a:prstGeom prst="roundRect">
            <a:avLst>
              <a:gd name="adj" fmla="val 14286"/>
            </a:avLst>
          </a:prstGeom>
          <a:solidFill>
            <a:srgbClr val="141B34"/>
          </a:solidFill>
          <a:ln/>
        </p:spPr>
        <p:txBody>
          <a:bodyPr/>
          <a:lstStyle/>
          <a:p>
            <a:endParaRPr lang="en-UG"/>
          </a:p>
        </p:txBody>
      </p:sp>
      <p:sp>
        <p:nvSpPr>
          <p:cNvPr id="40" name="Text 33"/>
          <p:cNvSpPr/>
          <p:nvPr/>
        </p:nvSpPr>
        <p:spPr>
          <a:xfrm>
            <a:off x="7505212" y="4828032"/>
            <a:ext cx="150199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VCF</a:t>
            </a:r>
            <a:endParaRPr lang="en-US" sz="1100" dirty="0"/>
          </a:p>
        </p:txBody>
      </p:sp>
      <p:sp>
        <p:nvSpPr>
          <p:cNvPr id="41" name="Text 34"/>
          <p:cNvSpPr/>
          <p:nvPr/>
        </p:nvSpPr>
        <p:spPr>
          <a:xfrm>
            <a:off x="9171798" y="3451860"/>
            <a:ext cx="3291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A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42" name="Shape 35"/>
          <p:cNvSpPr/>
          <p:nvPr/>
        </p:nvSpPr>
        <p:spPr>
          <a:xfrm>
            <a:off x="9464406" y="2148840"/>
            <a:ext cx="1904329" cy="3246120"/>
          </a:xfrm>
          <a:prstGeom prst="roundRect">
            <a:avLst>
              <a:gd name="adj" fmla="val 4802"/>
            </a:avLst>
          </a:prstGeom>
          <a:solidFill>
            <a:srgbClr val="F2F6F9"/>
          </a:solidFill>
          <a:ln/>
          <a:effectLst>
            <a:outerShdw blurRad="889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en-UG"/>
          </a:p>
        </p:txBody>
      </p:sp>
      <p:sp>
        <p:nvSpPr>
          <p:cNvPr id="43" name="Shape 36"/>
          <p:cNvSpPr/>
          <p:nvPr/>
        </p:nvSpPr>
        <p:spPr>
          <a:xfrm>
            <a:off x="10005090" y="2441448"/>
            <a:ext cx="822960" cy="822960"/>
          </a:xfrm>
          <a:prstGeom prst="ellipse">
            <a:avLst/>
          </a:prstGeom>
          <a:solidFill>
            <a:srgbClr val="E8666F"/>
          </a:solidFill>
          <a:ln/>
          <a:effectLst>
            <a:outerShdw blurRad="889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en-UG"/>
          </a:p>
        </p:txBody>
      </p:sp>
      <p:pic>
        <p:nvPicPr>
          <p:cNvPr id="4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02601" y="2638958"/>
            <a:ext cx="427939" cy="427939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9574134" y="225856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66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46" name="Text 38"/>
          <p:cNvSpPr/>
          <p:nvPr/>
        </p:nvSpPr>
        <p:spPr>
          <a:xfrm>
            <a:off x="9537558" y="3447288"/>
            <a:ext cx="175802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41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Annotation</a:t>
            </a:r>
            <a:endParaRPr lang="en-US" sz="1450" dirty="0"/>
          </a:p>
        </p:txBody>
      </p:sp>
      <p:sp>
        <p:nvSpPr>
          <p:cNvPr id="47" name="Text 39"/>
          <p:cNvSpPr/>
          <p:nvPr/>
        </p:nvSpPr>
        <p:spPr>
          <a:xfrm>
            <a:off x="9537558" y="3931920"/>
            <a:ext cx="175802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biology</a:t>
            </a:r>
            <a:endParaRPr lang="en-US" sz="1150" dirty="0"/>
          </a:p>
        </p:txBody>
      </p:sp>
      <p:sp>
        <p:nvSpPr>
          <p:cNvPr id="48" name="Shape 40"/>
          <p:cNvSpPr/>
          <p:nvPr/>
        </p:nvSpPr>
        <p:spPr>
          <a:xfrm>
            <a:off x="9665574" y="4828032"/>
            <a:ext cx="1501993" cy="384048"/>
          </a:xfrm>
          <a:prstGeom prst="roundRect">
            <a:avLst>
              <a:gd name="adj" fmla="val 14286"/>
            </a:avLst>
          </a:prstGeom>
          <a:solidFill>
            <a:srgbClr val="141B34"/>
          </a:solidFill>
          <a:ln/>
        </p:spPr>
        <p:txBody>
          <a:bodyPr/>
          <a:lstStyle/>
          <a:p>
            <a:endParaRPr lang="en-UG"/>
          </a:p>
        </p:txBody>
      </p:sp>
      <p:sp>
        <p:nvSpPr>
          <p:cNvPr id="49" name="Text 41"/>
          <p:cNvSpPr/>
          <p:nvPr/>
        </p:nvSpPr>
        <p:spPr>
          <a:xfrm>
            <a:off x="9665574" y="4828032"/>
            <a:ext cx="150199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Annotated VCF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658368" cy="658368"/>
          </a:xfrm>
          <a:prstGeom prst="ellipse">
            <a:avLst/>
          </a:prstGeom>
          <a:solidFill>
            <a:srgbClr val="0E9594"/>
          </a:solidFill>
          <a:ln/>
          <a:effectLst>
            <a:outerShdw blurRad="889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en-U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968" y="660928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27632" y="502920"/>
            <a:ext cx="10058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Genomic Variants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Variant callers are specialized by class — short variants vs. structural variants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822960" y="1965960"/>
            <a:ext cx="5166360" cy="1783080"/>
          </a:xfrm>
          <a:prstGeom prst="roundRect">
            <a:avLst>
              <a:gd name="adj" fmla="val 5128"/>
            </a:avLst>
          </a:prstGeom>
          <a:solidFill>
            <a:srgbClr val="F2F6F9"/>
          </a:solidFill>
          <a:ln/>
          <a:effectLst>
            <a:outerShdw blurRad="889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en-UG"/>
          </a:p>
        </p:txBody>
      </p:sp>
      <p:sp>
        <p:nvSpPr>
          <p:cNvPr id="7" name="Shape 4"/>
          <p:cNvSpPr/>
          <p:nvPr/>
        </p:nvSpPr>
        <p:spPr>
          <a:xfrm>
            <a:off x="1097280" y="2258568"/>
            <a:ext cx="914400" cy="914400"/>
          </a:xfrm>
          <a:prstGeom prst="ellipse">
            <a:avLst/>
          </a:prstGeom>
          <a:solidFill>
            <a:srgbClr val="17A2B8"/>
          </a:solidFill>
          <a:ln/>
        </p:spPr>
        <p:txBody>
          <a:bodyPr/>
          <a:lstStyle/>
          <a:p>
            <a:endParaRPr lang="en-UG"/>
          </a:p>
        </p:txBody>
      </p:sp>
      <p:sp>
        <p:nvSpPr>
          <p:cNvPr id="8" name="Text 5"/>
          <p:cNvSpPr/>
          <p:nvPr/>
        </p:nvSpPr>
        <p:spPr>
          <a:xfrm>
            <a:off x="1097280" y="225856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SNVs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2240280" y="225856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1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Nucleotide Variants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2240280" y="2679192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F2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base substituted for another (A→G). The most common variant; ~3–4 M per genome.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309360" y="1965960"/>
            <a:ext cx="5166360" cy="1783080"/>
          </a:xfrm>
          <a:prstGeom prst="roundRect">
            <a:avLst>
              <a:gd name="adj" fmla="val 5128"/>
            </a:avLst>
          </a:prstGeom>
          <a:solidFill>
            <a:srgbClr val="F2F6F9"/>
          </a:solidFill>
          <a:ln/>
          <a:effectLst>
            <a:outerShdw blurRad="889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en-UG"/>
          </a:p>
        </p:txBody>
      </p:sp>
      <p:sp>
        <p:nvSpPr>
          <p:cNvPr id="12" name="Shape 9"/>
          <p:cNvSpPr/>
          <p:nvPr/>
        </p:nvSpPr>
        <p:spPr>
          <a:xfrm>
            <a:off x="6583680" y="2258568"/>
            <a:ext cx="914400" cy="914400"/>
          </a:xfrm>
          <a:prstGeom prst="ellipse">
            <a:avLst/>
          </a:prstGeom>
          <a:solidFill>
            <a:srgbClr val="0E9594"/>
          </a:solidFill>
          <a:ln/>
        </p:spPr>
        <p:txBody>
          <a:bodyPr/>
          <a:lstStyle/>
          <a:p>
            <a:endParaRPr lang="en-UG"/>
          </a:p>
        </p:txBody>
      </p:sp>
      <p:sp>
        <p:nvSpPr>
          <p:cNvPr id="13" name="Text 10"/>
          <p:cNvSpPr/>
          <p:nvPr/>
        </p:nvSpPr>
        <p:spPr>
          <a:xfrm>
            <a:off x="6583680" y="225856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Indels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7726680" y="225856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1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Insertions / Deletions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7726680" y="2679192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F2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insertions or deletions, typically &lt;50 bp. Can cause frameshifts in coding regions.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22960" y="4069080"/>
            <a:ext cx="5166360" cy="1783080"/>
          </a:xfrm>
          <a:prstGeom prst="roundRect">
            <a:avLst>
              <a:gd name="adj" fmla="val 5128"/>
            </a:avLst>
          </a:prstGeom>
          <a:solidFill>
            <a:srgbClr val="F2F6F9"/>
          </a:solidFill>
          <a:ln/>
          <a:effectLst>
            <a:outerShdw blurRad="889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en-UG"/>
          </a:p>
        </p:txBody>
      </p:sp>
      <p:sp>
        <p:nvSpPr>
          <p:cNvPr id="17" name="Shape 14"/>
          <p:cNvSpPr/>
          <p:nvPr/>
        </p:nvSpPr>
        <p:spPr>
          <a:xfrm>
            <a:off x="1097280" y="4361688"/>
            <a:ext cx="914400" cy="914400"/>
          </a:xfrm>
          <a:prstGeom prst="ellipse">
            <a:avLst/>
          </a:prstGeom>
          <a:solidFill>
            <a:srgbClr val="F4A259"/>
          </a:solidFill>
          <a:ln/>
        </p:spPr>
        <p:txBody>
          <a:bodyPr/>
          <a:lstStyle/>
          <a:p>
            <a:endParaRPr lang="en-UG"/>
          </a:p>
        </p:txBody>
      </p:sp>
      <p:sp>
        <p:nvSpPr>
          <p:cNvPr id="18" name="Text 15"/>
          <p:cNvSpPr/>
          <p:nvPr/>
        </p:nvSpPr>
        <p:spPr>
          <a:xfrm>
            <a:off x="1097280" y="436168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CNVs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2240280" y="436168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1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Number Variants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2240280" y="4782312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F2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Gains or losses of large genomic segments altering the copy number of regions or genes.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309360" y="4069080"/>
            <a:ext cx="5166360" cy="1783080"/>
          </a:xfrm>
          <a:prstGeom prst="roundRect">
            <a:avLst>
              <a:gd name="adj" fmla="val 5128"/>
            </a:avLst>
          </a:prstGeom>
          <a:solidFill>
            <a:srgbClr val="F2F6F9"/>
          </a:solidFill>
          <a:ln/>
          <a:effectLst>
            <a:outerShdw blurRad="889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en-UG"/>
          </a:p>
        </p:txBody>
      </p:sp>
      <p:sp>
        <p:nvSpPr>
          <p:cNvPr id="22" name="Shape 19"/>
          <p:cNvSpPr/>
          <p:nvPr/>
        </p:nvSpPr>
        <p:spPr>
          <a:xfrm>
            <a:off x="6583680" y="4361688"/>
            <a:ext cx="914400" cy="914400"/>
          </a:xfrm>
          <a:prstGeom prst="ellipse">
            <a:avLst/>
          </a:prstGeom>
          <a:solidFill>
            <a:srgbClr val="E8666F"/>
          </a:solidFill>
          <a:ln/>
        </p:spPr>
        <p:txBody>
          <a:bodyPr/>
          <a:lstStyle/>
          <a:p>
            <a:endParaRPr lang="en-UG"/>
          </a:p>
        </p:txBody>
      </p:sp>
      <p:sp>
        <p:nvSpPr>
          <p:cNvPr id="23" name="Text 20"/>
          <p:cNvSpPr/>
          <p:nvPr/>
        </p:nvSpPr>
        <p:spPr>
          <a:xfrm>
            <a:off x="6583680" y="436168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SVs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7726680" y="436168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1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 Variants</a:t>
            </a:r>
            <a:endParaRPr lang="en-US" sz="1550" dirty="0"/>
          </a:p>
        </p:txBody>
      </p:sp>
      <p:sp>
        <p:nvSpPr>
          <p:cNvPr id="25" name="Text 22"/>
          <p:cNvSpPr/>
          <p:nvPr/>
        </p:nvSpPr>
        <p:spPr>
          <a:xfrm>
            <a:off x="7726680" y="4782312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F2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rearrangements (≥50 bp): deletions, duplications, inversions, translocations.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658368" cy="658368"/>
          </a:xfrm>
          <a:prstGeom prst="ellipse">
            <a:avLst/>
          </a:prstGeom>
          <a:solidFill>
            <a:srgbClr val="0E9594"/>
          </a:solidFill>
          <a:ln/>
          <a:effectLst>
            <a:outerShdw blurRad="889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en-U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968" y="660928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27632" y="502920"/>
            <a:ext cx="10058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Steps 1–2: Sequencing &amp; Alignment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822960" y="1554480"/>
            <a:ext cx="5166360" cy="4023360"/>
          </a:xfrm>
          <a:prstGeom prst="roundRect">
            <a:avLst>
              <a:gd name="adj" fmla="val 2273"/>
            </a:avLst>
          </a:prstGeom>
          <a:solidFill>
            <a:srgbClr val="F2F6F9"/>
          </a:solidFill>
          <a:ln/>
          <a:effectLst>
            <a:outerShdw blurRad="889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en-UG"/>
          </a:p>
        </p:txBody>
      </p:sp>
      <p:sp>
        <p:nvSpPr>
          <p:cNvPr id="6" name="Shape 3"/>
          <p:cNvSpPr/>
          <p:nvPr/>
        </p:nvSpPr>
        <p:spPr>
          <a:xfrm>
            <a:off x="1143000" y="1847088"/>
            <a:ext cx="640080" cy="640080"/>
          </a:xfrm>
          <a:prstGeom prst="ellipse">
            <a:avLst/>
          </a:prstGeom>
          <a:solidFill>
            <a:srgbClr val="17A2B8"/>
          </a:solidFill>
          <a:ln/>
          <a:effectLst>
            <a:outerShdw blurRad="889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en-UG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6619" y="2000707"/>
            <a:ext cx="332842" cy="33284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920240" y="1847088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Sequencing → FASTQ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1188720" y="274320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2514600" y="2743200"/>
            <a:ext cx="3108960" cy="85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F2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Sequencers (e.g., Illumina) produce millions of short reads, 100–250 bp each.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1188720" y="368808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FASTQ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2514600" y="3688080"/>
            <a:ext cx="3108960" cy="85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F2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Stores read sequences plus per-base Phred quality scores.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1188720" y="463296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QC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2514600" y="4632960"/>
            <a:ext cx="3108960" cy="85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F2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Adapter trimming and quality checks (FastQC) precede alignment.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217920" y="1554480"/>
            <a:ext cx="5166360" cy="4023360"/>
          </a:xfrm>
          <a:prstGeom prst="roundRect">
            <a:avLst>
              <a:gd name="adj" fmla="val 2273"/>
            </a:avLst>
          </a:prstGeom>
          <a:solidFill>
            <a:srgbClr val="F2F6F9"/>
          </a:solidFill>
          <a:ln/>
          <a:effectLst>
            <a:outerShdw blurRad="889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en-UG"/>
          </a:p>
        </p:txBody>
      </p:sp>
      <p:sp>
        <p:nvSpPr>
          <p:cNvPr id="16" name="Shape 12"/>
          <p:cNvSpPr/>
          <p:nvPr/>
        </p:nvSpPr>
        <p:spPr>
          <a:xfrm>
            <a:off x="6537960" y="1847088"/>
            <a:ext cx="640080" cy="640080"/>
          </a:xfrm>
          <a:prstGeom prst="ellipse">
            <a:avLst/>
          </a:prstGeom>
          <a:solidFill>
            <a:srgbClr val="0E9594"/>
          </a:solidFill>
          <a:ln/>
          <a:effectLst>
            <a:outerShdw blurRad="889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en-UG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1579" y="2000707"/>
            <a:ext cx="332842" cy="33284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315200" y="1847088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Alignment → BAM/CRAM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583680" y="274320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9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7909560" y="2743200"/>
            <a:ext cx="3108960" cy="85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F2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BWA-MEM or minimap2 place each read at its best genomic position.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6583680" y="368808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9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Sorting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7909560" y="3688080"/>
            <a:ext cx="3108960" cy="85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F2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are coordinate-sorted and indexed for random access.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6583680" y="463296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9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Dedup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7909560" y="4632960"/>
            <a:ext cx="3108960" cy="85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F2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PCR/optical duplicates (Picard) and recalibrate base qualities (BQSR).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658368" cy="658368"/>
          </a:xfrm>
          <a:prstGeom prst="ellipse">
            <a:avLst/>
          </a:prstGeom>
          <a:solidFill>
            <a:srgbClr val="0E9594"/>
          </a:solidFill>
          <a:ln/>
          <a:effectLst>
            <a:outerShdw blurRad="889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en-U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968" y="660928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27632" y="502920"/>
            <a:ext cx="10058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3: Variant Calling Methods &amp; Tools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822960" y="1554480"/>
            <a:ext cx="5166360" cy="1965960"/>
          </a:xfrm>
          <a:prstGeom prst="roundRect">
            <a:avLst>
              <a:gd name="adj" fmla="val 4651"/>
            </a:avLst>
          </a:prstGeom>
          <a:solidFill>
            <a:srgbClr val="F2F6F9"/>
          </a:solidFill>
          <a:ln/>
          <a:effectLst>
            <a:outerShdw blurRad="889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en-UG"/>
          </a:p>
        </p:txBody>
      </p:sp>
      <p:sp>
        <p:nvSpPr>
          <p:cNvPr id="6" name="Shape 3"/>
          <p:cNvSpPr/>
          <p:nvPr/>
        </p:nvSpPr>
        <p:spPr>
          <a:xfrm>
            <a:off x="1143000" y="1847088"/>
            <a:ext cx="640080" cy="640080"/>
          </a:xfrm>
          <a:prstGeom prst="ellipse">
            <a:avLst/>
          </a:prstGeom>
          <a:solidFill>
            <a:srgbClr val="0E9594"/>
          </a:solidFill>
          <a:ln/>
          <a:effectLst>
            <a:outerShdw blurRad="889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en-UG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6619" y="2000707"/>
            <a:ext cx="332842" cy="33284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920240" y="1847088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Germline calling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1188720" y="251460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9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2514600" y="25146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F2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inherited variants; expect ~0/1 or 1/1 genotypes.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1188720" y="301752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9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2514600" y="30175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F2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GATK HaplotypeCaller, DeepVariant, bcftools.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22960" y="3657600"/>
            <a:ext cx="5166360" cy="1965960"/>
          </a:xfrm>
          <a:prstGeom prst="roundRect">
            <a:avLst>
              <a:gd name="adj" fmla="val 4651"/>
            </a:avLst>
          </a:prstGeom>
          <a:solidFill>
            <a:srgbClr val="F2F6F9"/>
          </a:solidFill>
          <a:ln/>
          <a:effectLst>
            <a:outerShdw blurRad="889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en-UG"/>
          </a:p>
        </p:txBody>
      </p:sp>
      <p:sp>
        <p:nvSpPr>
          <p:cNvPr id="14" name="Shape 10"/>
          <p:cNvSpPr/>
          <p:nvPr/>
        </p:nvSpPr>
        <p:spPr>
          <a:xfrm>
            <a:off x="1143000" y="3950208"/>
            <a:ext cx="640080" cy="640080"/>
          </a:xfrm>
          <a:prstGeom prst="ellipse">
            <a:avLst/>
          </a:prstGeom>
          <a:solidFill>
            <a:srgbClr val="E8666F"/>
          </a:solidFill>
          <a:ln/>
          <a:effectLst>
            <a:outerShdw blurRad="889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en-UG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6619" y="4103827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920240" y="3950208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Somatic calling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1188720" y="461772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66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2514600" y="46177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F2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tumor-specific mutations at low allele fractions vs. matched normal.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1188720" y="512064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66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2514600" y="51206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F2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Mutect2, Strelka2, VarScan.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6217920" y="1554480"/>
            <a:ext cx="5166360" cy="4069080"/>
          </a:xfrm>
          <a:prstGeom prst="roundRect">
            <a:avLst>
              <a:gd name="adj" fmla="val 2697"/>
            </a:avLst>
          </a:prstGeom>
          <a:solidFill>
            <a:srgbClr val="141B34"/>
          </a:solidFill>
          <a:ln/>
          <a:effectLst>
            <a:outerShdw blurRad="889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en-UG"/>
          </a:p>
        </p:txBody>
      </p:sp>
      <p:sp>
        <p:nvSpPr>
          <p:cNvPr id="22" name="Text 17"/>
          <p:cNvSpPr/>
          <p:nvPr/>
        </p:nvSpPr>
        <p:spPr>
          <a:xfrm>
            <a:off x="6537960" y="1783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MODERN CALLERS WORK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6537960" y="2331720"/>
            <a:ext cx="146304" cy="146304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G"/>
          </a:p>
        </p:txBody>
      </p:sp>
      <p:sp>
        <p:nvSpPr>
          <p:cNvPr id="24" name="Text 19"/>
          <p:cNvSpPr/>
          <p:nvPr/>
        </p:nvSpPr>
        <p:spPr>
          <a:xfrm>
            <a:off x="6812280" y="2212848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reassembly</a:t>
            </a:r>
            <a:endParaRPr lang="en-US" sz="1450" dirty="0"/>
          </a:p>
        </p:txBody>
      </p:sp>
      <p:sp>
        <p:nvSpPr>
          <p:cNvPr id="25" name="Text 20"/>
          <p:cNvSpPr/>
          <p:nvPr/>
        </p:nvSpPr>
        <p:spPr>
          <a:xfrm>
            <a:off x="6812280" y="2578608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C2CD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Reassemble reads into haplotypes around active regions rather than per-base pileup.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6537960" y="3429000"/>
            <a:ext cx="146304" cy="146304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G"/>
          </a:p>
        </p:txBody>
      </p:sp>
      <p:sp>
        <p:nvSpPr>
          <p:cNvPr id="27" name="Text 22"/>
          <p:cNvSpPr/>
          <p:nvPr/>
        </p:nvSpPr>
        <p:spPr>
          <a:xfrm>
            <a:off x="6812280" y="3310128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Probabilistic models</a:t>
            </a:r>
            <a:endParaRPr lang="en-US" sz="1450" dirty="0"/>
          </a:p>
        </p:txBody>
      </p:sp>
      <p:sp>
        <p:nvSpPr>
          <p:cNvPr id="28" name="Text 23"/>
          <p:cNvSpPr/>
          <p:nvPr/>
        </p:nvSpPr>
        <p:spPr>
          <a:xfrm>
            <a:off x="6812280" y="3675888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C2CD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HMM/Bayesian genotype likelihoods, or deep CNNs (DeepVariant) over pileup images.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6537960" y="4526280"/>
            <a:ext cx="146304" cy="146304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G"/>
          </a:p>
        </p:txBody>
      </p:sp>
      <p:sp>
        <p:nvSpPr>
          <p:cNvPr id="30" name="Text 25"/>
          <p:cNvSpPr/>
          <p:nvPr/>
        </p:nvSpPr>
        <p:spPr>
          <a:xfrm>
            <a:off x="6812280" y="4407408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Joint genotyping</a:t>
            </a:r>
            <a:endParaRPr lang="en-US" sz="1450" dirty="0"/>
          </a:p>
        </p:txBody>
      </p:sp>
      <p:sp>
        <p:nvSpPr>
          <p:cNvPr id="31" name="Text 26"/>
          <p:cNvSpPr/>
          <p:nvPr/>
        </p:nvSpPr>
        <p:spPr>
          <a:xfrm>
            <a:off x="6812280" y="4773168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C2CD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many samples (GVCFs) for accurate cohort-level calls.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658368" cy="658368"/>
          </a:xfrm>
          <a:prstGeom prst="ellipse">
            <a:avLst/>
          </a:prstGeom>
          <a:solidFill>
            <a:srgbClr val="0E9594"/>
          </a:solidFill>
          <a:ln/>
          <a:effectLst>
            <a:outerShdw blurRad="889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en-U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968" y="660928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27632" y="502920"/>
            <a:ext cx="10058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File Formats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 backbone of every variant calling pipeline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965960"/>
          <a:ext cx="10561320" cy="329184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89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Format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Contents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0E959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FASTQ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F2A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Sequencing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F2A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Raw reads + per-base Phred quality scores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0E959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SAM / BAM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F2A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Alignment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F2A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Reads mapped to reference; BAM is the compressed binary form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0E959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CRAM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F2A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Alignment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F2A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Reference-based compression — smaller than BAM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0E959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VCF / BCF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F2A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Calling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F2A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Variant Call Format: positions, alleles, genotypes, quality, INFO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0E959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BED / GFF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F2A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Annotation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F2A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Genomic intervals &amp; feature/gene annotations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VCF is the universal currency for variants — every downstream tool reads and writes it.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658368" cy="658368"/>
          </a:xfrm>
          <a:prstGeom prst="ellipse">
            <a:avLst/>
          </a:prstGeom>
          <a:solidFill>
            <a:srgbClr val="0E9594"/>
          </a:solidFill>
          <a:ln/>
          <a:effectLst>
            <a:outerShdw blurRad="889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en-U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968" y="660928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27632" y="502920"/>
            <a:ext cx="10058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4: Filtering &amp; Quality Control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calls are noisy — filtering separates true variants from sequencing &amp; mapping artifacts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822960" y="2011680"/>
            <a:ext cx="3301898" cy="3383280"/>
          </a:xfrm>
          <a:prstGeom prst="roundRect">
            <a:avLst>
              <a:gd name="adj" fmla="val 2769"/>
            </a:avLst>
          </a:prstGeom>
          <a:solidFill>
            <a:srgbClr val="F2F6F9"/>
          </a:solidFill>
          <a:ln/>
          <a:effectLst>
            <a:outerShdw blurRad="889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en-UG"/>
          </a:p>
        </p:txBody>
      </p:sp>
      <p:sp>
        <p:nvSpPr>
          <p:cNvPr id="7" name="Shape 4"/>
          <p:cNvSpPr/>
          <p:nvPr/>
        </p:nvSpPr>
        <p:spPr>
          <a:xfrm>
            <a:off x="1188720" y="2377440"/>
            <a:ext cx="868680" cy="868680"/>
          </a:xfrm>
          <a:prstGeom prst="ellipse">
            <a:avLst/>
          </a:prstGeom>
          <a:solidFill>
            <a:srgbClr val="F4A259"/>
          </a:solidFill>
          <a:ln/>
          <a:effectLst>
            <a:outerShdw blurRad="889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en-UG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203" y="2585923"/>
            <a:ext cx="451714" cy="45171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3429000"/>
            <a:ext cx="257037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Filtering strategies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1188720" y="4023360"/>
            <a:ext cx="257037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F2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VQSR (machine-learning recalibration) for large cohorts; hard filters (thresholds) for small sets.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4444898" y="2011680"/>
            <a:ext cx="3301898" cy="3383280"/>
          </a:xfrm>
          <a:prstGeom prst="roundRect">
            <a:avLst>
              <a:gd name="adj" fmla="val 2769"/>
            </a:avLst>
          </a:prstGeom>
          <a:solidFill>
            <a:srgbClr val="F2F6F9"/>
          </a:solidFill>
          <a:ln/>
          <a:effectLst>
            <a:outerShdw blurRad="889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en-UG"/>
          </a:p>
        </p:txBody>
      </p:sp>
      <p:sp>
        <p:nvSpPr>
          <p:cNvPr id="12" name="Shape 8"/>
          <p:cNvSpPr/>
          <p:nvPr/>
        </p:nvSpPr>
        <p:spPr>
          <a:xfrm>
            <a:off x="4810658" y="2377440"/>
            <a:ext cx="868680" cy="868680"/>
          </a:xfrm>
          <a:prstGeom prst="ellipse">
            <a:avLst/>
          </a:prstGeom>
          <a:solidFill>
            <a:srgbClr val="0E9594"/>
          </a:solidFill>
          <a:ln/>
          <a:effectLst>
            <a:outerShdw blurRad="889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en-UG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9142" y="2585923"/>
            <a:ext cx="451714" cy="45171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810658" y="3429000"/>
            <a:ext cx="257037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quality metrics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810658" y="4023360"/>
            <a:ext cx="257037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F2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QUAL, read depth (DP), genotype quality (GQ), allele balance, strand bias, mapping quality.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8066837" y="2011680"/>
            <a:ext cx="3301898" cy="3383280"/>
          </a:xfrm>
          <a:prstGeom prst="roundRect">
            <a:avLst>
              <a:gd name="adj" fmla="val 2769"/>
            </a:avLst>
          </a:prstGeom>
          <a:solidFill>
            <a:srgbClr val="F2F6F9"/>
          </a:solidFill>
          <a:ln/>
          <a:effectLst>
            <a:outerShdw blurRad="889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en-UG"/>
          </a:p>
        </p:txBody>
      </p:sp>
      <p:sp>
        <p:nvSpPr>
          <p:cNvPr id="17" name="Shape 12"/>
          <p:cNvSpPr/>
          <p:nvPr/>
        </p:nvSpPr>
        <p:spPr>
          <a:xfrm>
            <a:off x="8432597" y="2377440"/>
            <a:ext cx="868680" cy="868680"/>
          </a:xfrm>
          <a:prstGeom prst="ellipse">
            <a:avLst/>
          </a:prstGeom>
          <a:solidFill>
            <a:srgbClr val="2EC4B6"/>
          </a:solidFill>
          <a:ln/>
          <a:effectLst>
            <a:outerShdw blurRad="889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en-UG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1080" y="2585923"/>
            <a:ext cx="451714" cy="45171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432597" y="3429000"/>
            <a:ext cx="257037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Concordance checks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8432597" y="4023360"/>
            <a:ext cx="257037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F2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against truth sets (GIAB) to estimate precision &amp; recall (F1) for SNVs and indels.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658368" cy="658368"/>
          </a:xfrm>
          <a:prstGeom prst="ellipse">
            <a:avLst/>
          </a:prstGeom>
          <a:solidFill>
            <a:srgbClr val="0E9594"/>
          </a:solidFill>
          <a:ln/>
          <a:effectLst>
            <a:outerShdw blurRad="889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en-U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968" y="660928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27632" y="502920"/>
            <a:ext cx="10058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5: Annotation &amp; Clinical Interpretation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822960" y="1554480"/>
            <a:ext cx="5166360" cy="4023360"/>
          </a:xfrm>
          <a:prstGeom prst="roundRect">
            <a:avLst>
              <a:gd name="adj" fmla="val 2273"/>
            </a:avLst>
          </a:prstGeom>
          <a:solidFill>
            <a:srgbClr val="F2F6F9"/>
          </a:solidFill>
          <a:ln/>
          <a:effectLst>
            <a:outerShdw blurRad="889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en-UG"/>
          </a:p>
        </p:txBody>
      </p:sp>
      <p:sp>
        <p:nvSpPr>
          <p:cNvPr id="6" name="Shape 3"/>
          <p:cNvSpPr/>
          <p:nvPr/>
        </p:nvSpPr>
        <p:spPr>
          <a:xfrm>
            <a:off x="1143000" y="1847088"/>
            <a:ext cx="640080" cy="640080"/>
          </a:xfrm>
          <a:prstGeom prst="ellipse">
            <a:avLst/>
          </a:prstGeom>
          <a:solidFill>
            <a:srgbClr val="0E9594"/>
          </a:solidFill>
          <a:ln/>
          <a:effectLst>
            <a:outerShdw blurRad="889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en-UG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6619" y="2000707"/>
            <a:ext cx="332842" cy="33284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920240" y="1847088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annotation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1188720" y="274320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9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2514600" y="2743200"/>
            <a:ext cx="3108960" cy="85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F2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VEP, SnpEff, ANNOVAR predict consequence (missense, frameshift, splice).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1188720" y="368808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9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Frequency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2514600" y="3688080"/>
            <a:ext cx="3108960" cy="85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F2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gnomAD allele frequencies flag common vs. rare variants.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1188720" y="463296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9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DBs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2514600" y="4632960"/>
            <a:ext cx="3108960" cy="85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F2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ClinVar, OMIM link variants to known disease associations.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217920" y="1554480"/>
            <a:ext cx="5166360" cy="4023360"/>
          </a:xfrm>
          <a:prstGeom prst="roundRect">
            <a:avLst>
              <a:gd name="adj" fmla="val 2273"/>
            </a:avLst>
          </a:prstGeom>
          <a:solidFill>
            <a:srgbClr val="F2F6F9"/>
          </a:solidFill>
          <a:ln/>
          <a:effectLst>
            <a:outerShdw blurRad="889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en-UG"/>
          </a:p>
        </p:txBody>
      </p:sp>
      <p:sp>
        <p:nvSpPr>
          <p:cNvPr id="16" name="Shape 12"/>
          <p:cNvSpPr/>
          <p:nvPr/>
        </p:nvSpPr>
        <p:spPr>
          <a:xfrm>
            <a:off x="6537960" y="1847088"/>
            <a:ext cx="640080" cy="640080"/>
          </a:xfrm>
          <a:prstGeom prst="ellipse">
            <a:avLst/>
          </a:prstGeom>
          <a:solidFill>
            <a:srgbClr val="E8666F"/>
          </a:solidFill>
          <a:ln/>
          <a:effectLst>
            <a:outerShdw blurRad="889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en-UG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1579" y="2000707"/>
            <a:ext cx="332842" cy="33284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315200" y="1847088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classification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583680" y="274320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66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ACMG/AMP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7909560" y="2743200"/>
            <a:ext cx="3108960" cy="85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F2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tiers: Pathogenic → Likely Pathogenic → VUS → Likely Benign → Benign.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6583680" y="368808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66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7909560" y="3688080"/>
            <a:ext cx="3108960" cy="85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F2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Combines frequency, computational, functional &amp; segregation data.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6583680" y="463296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66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7909560" y="4632960"/>
            <a:ext cx="3108960" cy="85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F2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Actionable variants reviewed by clinical scientists before reporting.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B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1280160"/>
            <a:ext cx="4023360" cy="4023360"/>
          </a:xfrm>
          <a:prstGeom prst="ellipse">
            <a:avLst/>
          </a:prstGeom>
          <a:solidFill>
            <a:srgbClr val="1E2A4A"/>
          </a:solidFill>
          <a:ln/>
        </p:spPr>
        <p:txBody>
          <a:bodyPr/>
          <a:lstStyle/>
          <a:p>
            <a:endParaRPr lang="en-U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0" y="41148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777240" y="123444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Variant Calling, in a Nutshell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822960" y="2331720"/>
            <a:ext cx="658368" cy="658368"/>
          </a:xfrm>
          <a:prstGeom prst="ellipse">
            <a:avLst/>
          </a:prstGeom>
          <a:solidFill>
            <a:srgbClr val="0E9594"/>
          </a:solidFill>
          <a:ln/>
          <a:effectLst>
            <a:outerShdw blurRad="889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en-UG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968" y="2489728"/>
            <a:ext cx="342351" cy="34235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45920" y="2295144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1645920" y="2660904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C2CD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→ alignment → calling → filtering → annotation, with FASTQ, BAM and VCF as the key formats.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822960" y="3291840"/>
            <a:ext cx="658368" cy="658368"/>
          </a:xfrm>
          <a:prstGeom prst="ellipse">
            <a:avLst/>
          </a:prstGeom>
          <a:solidFill>
            <a:srgbClr val="0E9594"/>
          </a:solidFill>
          <a:ln/>
          <a:effectLst>
            <a:outerShdw blurRad="889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en-UG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968" y="3449848"/>
            <a:ext cx="342351" cy="34235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645920" y="3255264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your variant class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1645920" y="3621024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C2CD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SNVs and indels use short-variant callers; CNVs and SVs need dedicated tools.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822960" y="4251960"/>
            <a:ext cx="658368" cy="658368"/>
          </a:xfrm>
          <a:prstGeom prst="ellipse">
            <a:avLst/>
          </a:prstGeom>
          <a:solidFill>
            <a:srgbClr val="0E9594"/>
          </a:solidFill>
          <a:ln/>
          <a:effectLst>
            <a:outerShdw blurRad="889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en-UG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0968" y="4409968"/>
            <a:ext cx="342351" cy="34235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645920" y="4215384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matters</a:t>
            </a:r>
            <a:endParaRPr lang="en-US" sz="1700" dirty="0"/>
          </a:p>
        </p:txBody>
      </p:sp>
      <p:sp>
        <p:nvSpPr>
          <p:cNvPr id="17" name="Text 11"/>
          <p:cNvSpPr/>
          <p:nvPr/>
        </p:nvSpPr>
        <p:spPr>
          <a:xfrm>
            <a:off x="1645920" y="4581144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C2CD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callers use local reassembly, probabilistic models or deep learning; germline ≠ somatic.</a:t>
            </a:r>
            <a:endParaRPr lang="en-US" sz="1350" dirty="0"/>
          </a:p>
        </p:txBody>
      </p:sp>
      <p:sp>
        <p:nvSpPr>
          <p:cNvPr id="18" name="Shape 12"/>
          <p:cNvSpPr/>
          <p:nvPr/>
        </p:nvSpPr>
        <p:spPr>
          <a:xfrm>
            <a:off x="822960" y="5212080"/>
            <a:ext cx="658368" cy="658368"/>
          </a:xfrm>
          <a:prstGeom prst="ellipse">
            <a:avLst/>
          </a:prstGeom>
          <a:solidFill>
            <a:srgbClr val="0E9594"/>
          </a:solidFill>
          <a:ln/>
          <a:effectLst>
            <a:outerShdw blurRad="889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en-UG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0968" y="5370088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645920" y="5175504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Calling isn't the end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1645920" y="5541264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C2CD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Filtering against truth sets and clinical annotation turn calls into interpretable answers.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40321</TotalTime>
  <Words>827</Words>
  <Application>Microsoft Macintosh PowerPoint</Application>
  <PresentationFormat>Widescreen</PresentationFormat>
  <Paragraphs>155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Variant Calling</dc:title>
  <dc:subject>PptxGenJS Presentation</dc:subject>
  <dc:creator>Cowork</dc:creator>
  <cp:lastModifiedBy>David Twesigomwe</cp:lastModifiedBy>
  <cp:revision>3</cp:revision>
  <dcterms:created xsi:type="dcterms:W3CDTF">2026-06-24T07:11:11Z</dcterms:created>
  <dcterms:modified xsi:type="dcterms:W3CDTF">2026-07-22T07:15:26Z</dcterms:modified>
</cp:coreProperties>
</file>