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697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Metagenomics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metagenomics • Types of sequencing • 16S rRNA gene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• Amplicon analysis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55464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Summer School 2026  |  ACE-Uganda  |  UVRI  |  MRC/UVRI &amp; LSHTM Uganda Research Unit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64008" cy="1115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078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metagenomics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4447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concept of studying genetic material from environmental samples without culturing.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65760" y="2267712"/>
            <a:ext cx="64008" cy="1115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530352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3408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sequencing strategies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27066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amplicon from shotgun metagenomics and choose the right approach.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529584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365760" y="3529584"/>
            <a:ext cx="64008" cy="1115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30352" y="36027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6027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16S rRNA gene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96849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its structure, variable regions, and why it is used as a phylogenetic marker.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64008" cy="1115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919472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1078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key databases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14447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Identify SILVA, Greengenes2, NCBI RefSeq and their roles in taxonomy assignment.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26771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4754880" y="2267712"/>
            <a:ext cx="64008" cy="1115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4919472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23408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amplicon pipeline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9472" y="27066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Follow raw reads from QC to taxonomy using QIIME2, DADA2 and EMU.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529584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4754880" y="3529584"/>
            <a:ext cx="64008" cy="1115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4919472" y="36027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94960" y="36027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real data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19472" y="396849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Apply FASTQC, SEQKIT and QIIME2 to human gut and soil 16S datasets.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Metagenomics?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study of genetic material recovered directly from environmental samples,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prior cultivation of organisms."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65176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Culture-independent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Study microbes that cannot be grown in the lab — &gt;99% of environmental microbes are unculturable.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200400" y="2011680"/>
            <a:ext cx="265176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20040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184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312724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Analyse entire microbial communities simultaneously: bacteria, archaea, viruses, fungi in one experiment.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01168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6035040" y="2011680"/>
            <a:ext cx="265176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603504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2648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312724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sequencing generates millions of reads, enabling deep coverage of complex communities.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coined by Jo Handelsman et al. (1998) studying soil communities.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Metagenomics? Applications Across Fields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97480" cy="3200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29768" y="1005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Health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371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Gut microbiome &amp; disease (IBD, obesity, T2D)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Probiotics &amp; precision medicine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Hospital-acquired infection surveillance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97480" cy="32004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3310128" y="1005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Science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371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Soil health &amp; agriculture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Ocean &amp; freshwater ecology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monitoring &amp; conservation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97480" cy="32004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190488" y="1005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Biotechnology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0488" y="1371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Novel enzyme discovery (bioprospecting)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Bioactive compound mining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Bioremediation of pollutants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269748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429768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Fermentation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2918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Fermented food safety (dairy, beer, sauerkraut)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Food spoilage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Probiotic strain characterisation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3200400" y="2880360"/>
            <a:ext cx="2697480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3310128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2918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Plant-growth-promoting bacteria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Soil carbon cycling &amp; nutrient availability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Crop protection &amp; disease suppression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88036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6080760" y="2880360"/>
            <a:ext cx="269748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6190488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0488" y="32918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Outbreak surveillance &amp; pathogen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Antibiotic resistance gene tracking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Zoonotic spillover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in Metagenomics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Metagenomics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6916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PCR-amplify a marker gene (16S, 18S, ITS) from the community, then sequence the amplicons.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Advantages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per sample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907792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coverage of marker gene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163824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Well-established pipelines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419856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complex communities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721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95020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Only reveals who is there (taxonomy)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19709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PCR bias and chimera formation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4439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functional information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69087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Primer mismatches miss taxa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91440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329184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Shotgun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Metagenomics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(Whole-genome)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16916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Randomly fragment and sequence all DNA in the sample, no amplification step.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2423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Advantages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2651760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Taxonomic + functional data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1840" y="2907792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PCR bias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3163824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novel organisms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91840" y="3419856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genomes (MAGs)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91840" y="3721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395020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 cost &amp; computation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419709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Host DNA contamination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91840" y="44439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databases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91840" y="469087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Rare taxa easily missed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91440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6" name="Shape 34"/>
          <p:cNvSpPr/>
          <p:nvPr/>
        </p:nvSpPr>
        <p:spPr>
          <a:xfrm>
            <a:off x="6126480" y="914400"/>
            <a:ext cx="2743200" cy="50292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621792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Metatranscriptomics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1792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(RNA-based)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36208" y="16916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Sequence RNA (mRNA) from the community to capture active gene expression.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2423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Advantages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0" y="2651760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is actively expressed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17920" y="2907792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community response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17920" y="3163824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metabolic activity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17920" y="34655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36941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RNA unstable — fast processing needed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17920" y="394106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Complex analysis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17920" y="418795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rRNA dominates (~95%)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4901184"/>
            <a:ext cx="2743200" cy="2011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320040" y="4846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FOCUS →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92621"/>
            <a:ext cx="9144000" cy="640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2161201"/>
            <a:ext cx="91440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16S rRNA Gene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• Variable Regions • Why It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Summer School 2026  |  ACE-Uganda  |  UVRI  |  MRC/UVRI &amp; LSHTM Uganda Research Unit</a:t>
            </a:r>
            <a:r>
              <a:rPr lang="en-US" sz="900" b="1" dirty="0"/>
              <a:t> </a:t>
            </a: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Day 1</a:t>
            </a:r>
            <a:endParaRPr lang="en-US" sz="9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16S rRNA Gene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16S rRNA gene encodes the small subunit of the prokaryotic ribosome. It is ~1,540 bp long and contains: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64008" cy="685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30352" y="1709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Conserved Regions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1975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all prokaryotes — used for universal primer design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64008" cy="685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530352" y="2468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Variable Regions (V1–V9)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27340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at different rates — provide species/genus-level resolution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63824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365760" y="3163824"/>
            <a:ext cx="64008" cy="685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530352" y="32278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~1,540 bp total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0352" y="3493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sequenced with PacBio/ONT; V3-V4 (~460 bp) most common with Illumina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22776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365760" y="3922776"/>
            <a:ext cx="64008" cy="685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530352" y="39867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marker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0352" y="4251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 all bacteria and archaea; absent from eukaryotes (use 18S/ITS instead)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 rRNA Gene Variable Regions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508760"/>
            <a:ext cx="4206240" cy="2286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4572000" y="1508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0" y="15087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1481328"/>
            <a:ext cx="320040" cy="2834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4773168" y="1481328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57800" y="1481328"/>
            <a:ext cx="457200" cy="283464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5257800" y="1481328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97880" y="1481328"/>
            <a:ext cx="411480" cy="283464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5897880" y="1481328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92240" y="1481328"/>
            <a:ext cx="502920" cy="2834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6492240" y="1481328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78040" y="1481328"/>
            <a:ext cx="320040" cy="2834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7178040" y="1481328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589520" y="1481328"/>
            <a:ext cx="274320" cy="283464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7589520" y="1481328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955280" y="1481328"/>
            <a:ext cx="256032" cy="283464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7955280" y="1481328"/>
            <a:ext cx="256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275320" y="1481328"/>
            <a:ext cx="274320" cy="2834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8275320" y="1481328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613648" y="1481328"/>
            <a:ext cx="274320" cy="2834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8613648" y="1481328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897880" y="1828800"/>
            <a:ext cx="109728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548640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V3-V4 (Illumina, most common)</a:t>
            </a:r>
            <a:endParaRPr lang="en-US" sz="9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286000"/>
          <a:ext cx="4206240" cy="1891480"/>
        </p:xfrm>
        <a:graphic>
          <a:graphicData uri="http://schemas.openxmlformats.org/drawingml/2006/table">
            <a:tbl>
              <a:tblPr/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Primer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Primer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Length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515F (GTGYCAGCMGCCGCGGTAA)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806R (GGACTACNVGGGTWTCTAAT)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Illumina 2×250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V3-V4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341F (CCTACGGGNGGCWGCAG)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806R (GGACTACNVGGGTWTCTAAT)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Illumina 2×300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V1-V3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27F (AGAGTTTGATCMTGGCTCAG)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518R (ATTACCGCGGCTGCTGG)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Illumina 2×300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Full-length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27F (AGAGTTTGATCMTGGCTCAG)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1492R (TACGGYTACCTTGTTACGACTT)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 / PacBio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Text 44"/>
          <p:cNvSpPr/>
          <p:nvPr/>
        </p:nvSpPr>
        <p:spPr>
          <a:xfrm>
            <a:off x="4754880" y="4297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choice determines which microbial groups are detected and at what taxonomic resolution.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Platforms for Metagenomics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88920" cy="4572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65760" y="97840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(Short Reads)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length: 2×150 or 2×300 bp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up to 3 Tb/run (NovaSeq)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 &lt;0.1% (very accurate)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56032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~$50–200 per sample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8803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1089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V4/V3-V4 amplicon sequencing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3558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Shotgun WGS (most common)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6027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cohort studies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251960"/>
            <a:ext cx="27889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65760" y="42793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FASTQC, Trimmomatic, fastp, QIIME2, DADA2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960120"/>
            <a:ext cx="27889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3200400" y="960120"/>
            <a:ext cx="2788920" cy="4572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291840" y="97840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Nanopore (ONT)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91840" y="1508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173736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length: up to &gt;1 Mb (avg 5–50 kb)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201168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50–300 Gb/run (PromethION)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91840" y="228600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 ~5% (improving with R10 chemistry)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91840" y="256032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~$500–800/flow cell (~$50–150/sample multiplexed)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1840" y="28803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1089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16S sequencing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91840" y="33558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pathogen detection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91840" y="36027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RNA sequencing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0" y="4251960"/>
            <a:ext cx="27889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3291840" y="42793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wf-16S (EPI2ME), EMU, guppy/dorado, minimap2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960120"/>
            <a:ext cx="27889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6126480" y="960120"/>
            <a:ext cx="2788920" cy="45720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6217920" y="97840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PacBio HiFi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217920" y="1508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173736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length: 10–25 kb (HiFi)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17920" y="201168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&gt;99.9% (CCS mode)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0" y="228600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throughput than Illumina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17920" y="256032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per Gb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0" y="28803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31089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16S/18S (near-perfect accuracy)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17920" y="33558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assembly (hybrid approach)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17920" y="36027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structural variation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26480" y="4251960"/>
            <a:ext cx="27889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6217920" y="42793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pbmm2, DADA2 (with HiFi reads)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 vs Shotgun vs Long-Read: When to Use 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410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169164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320040" y="95097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02536" y="932688"/>
            <a:ext cx="228600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2048256" y="9509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 (Short-Read)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5112" y="932688"/>
            <a:ext cx="2286000" cy="347472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370832" y="9509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Shotgun WGS (Short-Read)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47688" y="932688"/>
            <a:ext cx="2286000" cy="347472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693408" y="9509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Long-Read (ONT / PacBio)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316736"/>
            <a:ext cx="169164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29184" y="135331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sequenced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02536" y="1316736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2057400" y="135331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 / ITS / 18S amplicon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25112" y="1316736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379976" y="135331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DNA in sample (WGS)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47688" y="1316736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702552" y="135331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amplicon or WGS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1810512"/>
            <a:ext cx="1691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329184" y="18470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sample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02536" y="181051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2057400" y="18470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~$50–100 (cheap)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25112" y="181051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4379976" y="18470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~$100–300 (moderate–high)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47688" y="181051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702552" y="18470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~$50–150 ONT (falling fast)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304288"/>
            <a:ext cx="169164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329184" y="23408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02536" y="2304288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2057400" y="234086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Genus/species (V4); species (FL)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25112" y="2304288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4379976" y="234086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Strain-level; functional genes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47688" y="2304288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6702552" y="234086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Species-level (FL 16S); strain (WGS)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2798064"/>
            <a:ext cx="1691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329184" y="28346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profile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002536" y="2798064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2057400" y="283464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&lt;0.1% substitution (Illumina)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25112" y="2798064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4379976" y="283464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&lt;0.1% substitution (Illumina)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47688" y="2798064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6702552" y="283464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indel-rich (ONT); &lt;0.01% (PacBio HiFi)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291840"/>
            <a:ext cx="169164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329184" y="332841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info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002536" y="3291840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/>
          <p:nvPr/>
        </p:nvSpPr>
        <p:spPr>
          <a:xfrm>
            <a:off x="2057400" y="332841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(marker gene only)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325112" y="3291840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4379976" y="332841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metabolic potential + AMR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647688" y="3291840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/>
          <p:nvPr/>
        </p:nvSpPr>
        <p:spPr>
          <a:xfrm>
            <a:off x="6702552" y="332841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(WGS); none (amplicon)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3785616"/>
            <a:ext cx="1691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329184" y="382219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002536" y="3785616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6" name="Text 54"/>
          <p:cNvSpPr/>
          <p:nvPr/>
        </p:nvSpPr>
        <p:spPr>
          <a:xfrm>
            <a:off x="2057400" y="3822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profiling, large cohorts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25112" y="3785616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/>
          <p:nvPr/>
        </p:nvSpPr>
        <p:spPr>
          <a:xfrm>
            <a:off x="4379976" y="3822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Assembly, MAGs, functional analysis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647688" y="3785616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0" name="Text 58"/>
          <p:cNvSpPr/>
          <p:nvPr/>
        </p:nvSpPr>
        <p:spPr>
          <a:xfrm>
            <a:off x="6702552" y="3822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ID in clinical; complex assembly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74320" y="4279392"/>
            <a:ext cx="169164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2" name="Text 60"/>
          <p:cNvSpPr/>
          <p:nvPr/>
        </p:nvSpPr>
        <p:spPr>
          <a:xfrm>
            <a:off x="329184" y="43159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002536" y="4279392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4" name="Text 62"/>
          <p:cNvSpPr/>
          <p:nvPr/>
        </p:nvSpPr>
        <p:spPr>
          <a:xfrm>
            <a:off x="2057400" y="43159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QIIME2, DADA2, EMU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325112" y="4279392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6" name="Text 64"/>
          <p:cNvSpPr/>
          <p:nvPr/>
        </p:nvSpPr>
        <p:spPr>
          <a:xfrm>
            <a:off x="4379976" y="43159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Kraken2, MEGAHIT, MetaBAT2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647688" y="4279392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8" name="Text 66"/>
          <p:cNvSpPr/>
          <p:nvPr/>
        </p:nvSpPr>
        <p:spPr>
          <a:xfrm>
            <a:off x="6702552" y="43159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Dorado, EMU, wf-16S, metaFlye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Choice for Amplicon Sequencing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127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12720" cy="40233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65760" y="996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 rRNA — V4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179576"/>
            <a:ext cx="245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(~253 bp)  ·  515F / 806R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417320"/>
            <a:ext cx="248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Most widely used  ✓ Illumina 2×150/250  ✓ EMP standard  ✓ Good archaea coverage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093976"/>
            <a:ext cx="248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Misses some Thaumarchaeota  ✗ Low resolution below genus level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56960" y="960120"/>
            <a:ext cx="27127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6156960" y="960120"/>
            <a:ext cx="2712720" cy="402336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248400" y="996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 rRNA — V3-V4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48400" y="1179576"/>
            <a:ext cx="245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V3-V4 (~460 bp)  ·  341F / 806R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66688" y="1417320"/>
            <a:ext cx="248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Better taxonomic resolution  ✓ Common in human microbiome studies  ✓ SILVA v138.2 classifiers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66688" y="2093976"/>
            <a:ext cx="248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2×300 bp reads  ✗ More PCR cycles → more chimeras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4160520" cy="402336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65760" y="30083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 rRNA — Full-length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19125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V1-V9 (~1500 bp)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77440" y="30266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27F / 1492R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429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Species-level resolution  ✓ ONT &amp; PacBio HiFi only  ✓ EMU &amp; wf-16S designed for this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" y="41056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Long reads required (ONT/PacBio)  ✗ Higher error rate (ONT)  ✗ Cannot use Illumina 2×300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971800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4663440" y="2971800"/>
            <a:ext cx="4160520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4754880" y="30083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(Fungi)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19125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ITS1 or ITS2 (~300 bp)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66560" y="30266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ITS1F / ITS2 or ITS3F / ITS4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3168" y="3429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Standard for mycobiome studies  ✓ UNITE v10.0 database  ✓ High species-level resolution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73168" y="41056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ITS length variability complicates DADA2  ✗ Consider ITSxpress for trimming</a:t>
            </a:r>
            <a:endParaRPr lang="en-US" sz="900" dirty="0"/>
          </a:p>
        </p:txBody>
      </p:sp>
      <p:sp>
        <p:nvSpPr>
          <p:cNvPr id="100" name="V1V3_Shape10"/>
          <p:cNvSpPr/>
          <p:nvPr/>
        </p:nvSpPr>
        <p:spPr>
          <a:xfrm>
            <a:off x="3215640" y="960120"/>
            <a:ext cx="27127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1" name="V1V3_Shape11"/>
          <p:cNvSpPr/>
          <p:nvPr/>
        </p:nvSpPr>
        <p:spPr>
          <a:xfrm>
            <a:off x="3215640" y="960120"/>
            <a:ext cx="2712720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2" name="V1V3_Text12"/>
          <p:cNvSpPr/>
          <p:nvPr/>
        </p:nvSpPr>
        <p:spPr>
          <a:xfrm>
            <a:off x="3307080" y="996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 rRNA — V1-V3</a:t>
            </a:r>
            <a:endParaRPr lang="en-US" sz="1100" dirty="0"/>
          </a:p>
        </p:txBody>
      </p:sp>
      <p:sp>
        <p:nvSpPr>
          <p:cNvPr id="103" name="V1V3_Text13"/>
          <p:cNvSpPr/>
          <p:nvPr/>
        </p:nvSpPr>
        <p:spPr>
          <a:xfrm>
            <a:off x="3307080" y="1179576"/>
            <a:ext cx="245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V1-V3 (~500 bp)  ·  27F / 518R</a:t>
            </a:r>
            <a:endParaRPr lang="en-US" sz="850" dirty="0"/>
          </a:p>
        </p:txBody>
      </p:sp>
      <p:sp>
        <p:nvSpPr>
          <p:cNvPr id="104" name="V1V3_Text15"/>
          <p:cNvSpPr/>
          <p:nvPr/>
        </p:nvSpPr>
        <p:spPr>
          <a:xfrm>
            <a:off x="3325368" y="1417320"/>
            <a:ext cx="248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This course's dataset (PRJNA683885)  ✓ Longer amplicon → more resolution  ✓ Classic legacy marker</a:t>
            </a:r>
            <a:endParaRPr lang="en-US" sz="900" dirty="0"/>
          </a:p>
        </p:txBody>
      </p:sp>
      <p:sp>
        <p:nvSpPr>
          <p:cNvPr id="105" name="V1V3_Text16"/>
          <p:cNvSpPr/>
          <p:nvPr/>
        </p:nvSpPr>
        <p:spPr>
          <a:xfrm>
            <a:off x="3325368" y="2093976"/>
            <a:ext cx="248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standard pre-trained SILVA classifier — must build locally  ✗ Requires 2×300 bp reads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Error Profiles &amp; Quality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4864" cy="12070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7772400" y="1051560"/>
            <a:ext cx="1005840" cy="3657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7772400" y="1051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&lt;0.1%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0332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(MiSeq/NovaSeq)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893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type: Substitution errors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490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drops at 3' end; systematic run-specific errors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QC/handling: DADA2 error model per run; fastp Q20 filter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274320" y="2258568"/>
            <a:ext cx="54864" cy="120700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7772400" y="2350008"/>
            <a:ext cx="1005840" cy="36576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7772400" y="23500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Nanopore (R10)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587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type: Indel errors (ins/del)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788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Homopolymer runs (poly-A/T stretches) are hardest; R10 much better than R9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0815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QC/handling: EMU / minimap2 handle indels; Dorado recalibration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557016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274320" y="3557016"/>
            <a:ext cx="54864" cy="1207008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7772400" y="3648456"/>
            <a:ext cx="1005840" cy="36576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7772400" y="364845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&lt;0.01%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6301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PacBio HiFi (CCS)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8862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type: Substitution errors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0873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passes produce near-perfect consensus; lowest error of any long-read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3799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QC/handling: DADA2 with HiFi-specific parameters; pbmm2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73152" cy="51435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SILVA  •  Greengenes2  •  NCBI RefSeq  •  UNITE  •  GTDB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Summer School 2026  |  ACE-Uganda  |  UVRI  |  MRC/UVRI &amp; LSHTM Uganda Research Unit</a:t>
            </a:r>
            <a:r>
              <a:rPr lang="en-US" sz="900" b="1" dirty="0"/>
              <a:t> </a:t>
            </a: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Day 1</a:t>
            </a:r>
            <a:endParaRPr lang="en-US" sz="9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 Databases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64008" cy="17830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2423160" y="1033272"/>
            <a:ext cx="502920" cy="2011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2423160" y="10332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v138.2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033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380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 / 18S / 23S rRNA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61848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rRNA database (July 2024). Curated alignments for all three domains of life. </a:t>
            </a:r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Over 9.4 million SSU sequences. QIIME2 classifiers trained on SILVA are widely used.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64008" cy="178308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5303520" y="1033272"/>
            <a:ext cx="502920" cy="20116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5303520" y="10332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2024.09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83280" y="1033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Greengenes2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1380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 rRNA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61848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Rebuilt integrating WoL2 (Web of Life 2), a phylogenomic reference tree from ~10,000+ genomes. </a:t>
            </a:r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Better species-level resolution. Default for recent QIIME2 tutorials.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96012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6080760" y="960120"/>
            <a:ext cx="64008" cy="178308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8183880" y="1033272"/>
            <a:ext cx="502920" cy="201168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8183880" y="10332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63640" y="1033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RefSeq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1380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genomes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61848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repository of reference sequences. </a:t>
            </a:r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Used for Kraken2 database, BLAST searches, and downloading reference genomes.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926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320040" y="2926080"/>
            <a:ext cx="64008" cy="1783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2423160" y="2999232"/>
            <a:ext cx="50292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2423160" y="2999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" y="334670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(Fungi)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5844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Species Hypothesis (SH) based fungal database. Essential for amplicon studies targeting ITS1/ITS2 regions for mycobiome analysis.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2926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3200400" y="2926080"/>
            <a:ext cx="64008" cy="1783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5303520" y="2999232"/>
            <a:ext cx="502920" cy="2011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5303520" y="2999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r220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83280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GTDB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383280" y="334670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genomes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83280" y="35844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Genome Taxonomy Database, phylogenomics-based prokaryote taxonomy (April 2024 release). Standardised nomenclature used with GTDB-Tk for MAG classification.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80760" y="2926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1" name="Shape 39"/>
          <p:cNvSpPr/>
          <p:nvPr/>
        </p:nvSpPr>
        <p:spPr>
          <a:xfrm>
            <a:off x="6080760" y="2926080"/>
            <a:ext cx="64008" cy="1783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Shape 40"/>
          <p:cNvSpPr/>
          <p:nvPr/>
        </p:nvSpPr>
        <p:spPr>
          <a:xfrm>
            <a:off x="8183880" y="2999232"/>
            <a:ext cx="502920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8183880" y="2999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5.0.2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63640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eggNOG 5.0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263640" y="334670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/ COG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35844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orthologous groups. </a:t>
            </a:r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Used by eggNOG-mapper for rapid functional annotation. Maps genes to COG categories, GO terms and KEGG pathways.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Amplicon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reads to taxonomy and feature tables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Summer School 2026  |  ACE-Uganda  |  UVRI  |  MRC/UVRI &amp; LSHTM Uganda Research Unit</a:t>
            </a:r>
            <a:r>
              <a:rPr lang="en-US" sz="900" b="1" dirty="0"/>
              <a:t> </a:t>
            </a: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Day 1</a:t>
            </a:r>
            <a:endParaRPr lang="en-US" sz="9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 Analysis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618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97480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02412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Reads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444752"/>
            <a:ext cx="2514600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57200" y="145389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FASTQC + MultiQC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16733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of raw FASTQ files — check quality scores, adapter content, GC bias.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1719072"/>
            <a:ext cx="182880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97480" cy="1618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269748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3291840" y="10058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03320" y="102412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Trimming &amp; Filtering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444752"/>
            <a:ext cx="2514600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337560" y="145389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Trimmomatic / fastp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16733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Remove low-quality bases, adapters; filter very short reads.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719072"/>
            <a:ext cx="182880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6080760" y="960120"/>
            <a:ext cx="2697480" cy="1618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6080760" y="960120"/>
            <a:ext cx="2697480" cy="41148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6172200" y="10058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102412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to QIIME2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1444752"/>
            <a:ext cx="2514600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6217920" y="145389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 tools import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0488" y="16733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Convert FASTQ files to QIIME2 artifact format (.qza). Define manifest file.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743200"/>
            <a:ext cx="2697480" cy="1618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320040" y="2743200"/>
            <a:ext cx="2697480" cy="411480"/>
          </a:xfrm>
          <a:prstGeom prst="rect">
            <a:avLst/>
          </a:prstGeom>
          <a:solidFill>
            <a:srgbClr val="1D7A55"/>
          </a:solidFill>
          <a:ln w="12700">
            <a:solidFill>
              <a:srgbClr val="1D7A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411480" y="27889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2960" y="280720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 &amp; Chimera Removal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3227832"/>
            <a:ext cx="2514600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457200" y="323697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DADA2 / Deblur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9768" y="34564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Error correction and chimera removal; generate ASVs (Amplicon Sequence Variants). DADA2 models sequencing errors per run.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3502152"/>
            <a:ext cx="182880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Shape 34"/>
          <p:cNvSpPr/>
          <p:nvPr/>
        </p:nvSpPr>
        <p:spPr>
          <a:xfrm>
            <a:off x="3200400" y="2743200"/>
            <a:ext cx="2697480" cy="1618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7" name="Shape 35"/>
          <p:cNvSpPr/>
          <p:nvPr/>
        </p:nvSpPr>
        <p:spPr>
          <a:xfrm>
            <a:off x="3200400" y="2743200"/>
            <a:ext cx="2697480" cy="41148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3291840" y="27889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703320" y="280720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Assignment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3227832"/>
            <a:ext cx="2514600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3337560" y="323697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q2-feature-classifier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10128" y="34564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Classify ASVs using SILVA or Greengenes2 reference database.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97880" y="3502152"/>
            <a:ext cx="182880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Shape 42"/>
          <p:cNvSpPr/>
          <p:nvPr/>
        </p:nvSpPr>
        <p:spPr>
          <a:xfrm>
            <a:off x="6080760" y="2743200"/>
            <a:ext cx="2697480" cy="1618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5" name="Shape 43"/>
          <p:cNvSpPr/>
          <p:nvPr/>
        </p:nvSpPr>
        <p:spPr>
          <a:xfrm>
            <a:off x="6080760" y="2743200"/>
            <a:ext cx="269748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6172200" y="27889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583680" y="280720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Visualisation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72200" y="3227832"/>
            <a:ext cx="2514600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6217920" y="323697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q2-diversity / 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90488" y="34564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Alpha/beta diversity, taxonomy bar plots, statistical testing.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0D2B1D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/>
          <p:nvPr/>
        </p:nvSpPr>
        <p:spPr>
          <a:xfrm>
            <a:off x="457200" y="45902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Long-Read Track (ONT): 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651760" y="459028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Basecall (Dorado) → Full-length 16S reads → EMU (species-level abundance) or wf-16S (EPI2ME Nextflow workflow)  |  Skips QIIME2 DADA2 — uses alignment-based error handling instead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Nanopore 16S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long-read ONT 16S sequencing, different pipelines are used compared to Illumina: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43200" cy="50292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65760" y="1435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Mapping Utilities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Species-level 16S abundance estimation for ONT reads. Uses multi-mapping alignment to handle errors. Supports full-length 16S.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9535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Input: raw FASTQ from ONT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Maps reads to EMU default database (SILVA-based)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89534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Outputs: species-level abundance table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4242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Compatible with QIIME2 via q2-emu plugin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41732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3200400" y="1417320"/>
            <a:ext cx="2743200" cy="502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291840" y="1435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wf-16S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1709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EPI2ME Nextflow workflow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99339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Official Oxford Nanopore Technologies workflow for 16S/18S amplicon analysis. Nextflow-based, portable, cloud-ready.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9535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32004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Input: FASTQ or POD5 files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91840" y="35478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Basecalling → Demultiplexing → Classification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389534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Uses Minimap2 + SILVA/Greengenes2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91840" y="4242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Outputs: abundance table + report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141732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6126480" y="1417320"/>
            <a:ext cx="2743200" cy="50292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217920" y="1435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17920" y="1709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Basecaller (ONT)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199339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basecaller from ONT. Converts raw signal (POD5) to FASTQ. Supports demultiplexing and modified base detection.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29535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2004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Input: POD5 raw signal files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35478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Basecalling model selection (fast/hac/sup)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17920" y="389534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Output: FASTQ with quality scores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0" y="4242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Replaces older Guppy basecaller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We Use in This Course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188720" cy="868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 &amp; Diversity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1640" y="11612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FASTQC · MultiQC · SEQKIT · QIIME2 · DADA2 · EMU · epi2me/wf-16S · phyloseq · vegan · ggplot2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1188720" cy="86868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1148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Shotgun &amp; Assembly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216712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fastp · SEQKIT · Bowtie2 · BWA · Samtools · Kraken2 · Bracken · MetaPhlAn4 · MEGAHIT · SPAdes · QUAST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1188720" cy="86868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41148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317296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MetaBAT2 · DAS_Tool · CheckM2 · GTDB-Tk · Bowtie2 · Samtools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1188720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1148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434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417880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Prodigal · Prokka · eggNOG-mapper · HUMAnN3 · R (pathway plots)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available via module load. See environment/metagenomics.yml and environment/qiime2.yml for installation.</a:t>
            </a:r>
          </a:p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PRACTICAL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Hands-On Session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737360"/>
            <a:ext cx="416052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73152" cy="1417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76072" y="1828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Your Reads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240280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FASTQC on raw gut microbiome 16S reads. Generate a MultiQC summary report. Inspect quality plots and identify potential issues.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737360"/>
            <a:ext cx="416052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800600" y="1737360"/>
            <a:ext cx="73152" cy="1417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965192" y="1828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184708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with SEQKIT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5192" y="2240280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seqkit stats to get read count, length distributions, and GC content. Practice subsetting and filtering with seqkit grep, head, sample.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416052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411480" y="3291840"/>
            <a:ext cx="73152" cy="1417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76072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340156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Amplicon Workflow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" y="3794760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paired-end reads → run DADA2 denoising → assign taxonomy with SILVA classifier → generate taxonomy bar plots and feature tables.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291840"/>
            <a:ext cx="416052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4800600" y="3291840"/>
            <a:ext cx="73152" cy="1417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965192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03520" y="340156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 16S with EMU (Bonus)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3794760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time allows, process a small ONT 16S dataset using EMU. Compare taxonomy profiles to the Illumina-based results from step 3.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Summer School 2026  |  ACE-Uganda  |  UVRI  |  MRC/UVRI &amp; LSHTM Uganda Research Unit</a:t>
            </a:r>
            <a:r>
              <a:rPr lang="en-US" sz="900" b="1" dirty="0"/>
              <a:t> </a:t>
            </a: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Day 1</a:t>
            </a:r>
            <a:endParaRPr lang="en-US" sz="9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64008" cy="5760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48640" y="10607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Metagenomics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06070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Culture-independent study of genetic material from complex environmental communities.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55064"/>
            <a:ext cx="8412480" cy="576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64008" cy="5760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548640" y="17282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 sequencing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172821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PCR-amplifies a marker gene (16S rRNA) for community profiling — cost-effective and well-established.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22576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64008" cy="5760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548640" y="2395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 rRNA gene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3957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~1,540 bp; 9 variable regions; V4 most common for Illumina; full-length for ONT/PacBio.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90088"/>
            <a:ext cx="8412480" cy="576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365760" y="2990088"/>
            <a:ext cx="64008" cy="5760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3063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SILVA &amp; Greengenes2 for 16S taxonomy; NCBI for reference genomes; GTDB for standardised taxonomy.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64008" cy="5760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548640" y="37307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373075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FASTQC → QIIME2 import → DADA2 (ASVs) → taxonomy classification → diversity analysis.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325112"/>
            <a:ext cx="8412480" cy="576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365760" y="4325112"/>
            <a:ext cx="64008" cy="5760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548640" y="43982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 16S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34640" y="43982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16S with EMU or wf-16S provides species-level resolution not achievable with short reads.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b="1" i="1" dirty="0">
              <a:solidFill>
                <a:srgbClr val="0096C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b="1" i="1" dirty="0">
              <a:solidFill>
                <a:srgbClr val="0096C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b="1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tomorrow → Diversity Analysis (alpha diversity, beta diversity, ordination, statistics)</a:t>
            </a:r>
          </a:p>
          <a:p>
            <a:pPr marL="0" indent="0">
              <a:buNone/>
            </a:pPr>
            <a:endParaRPr lang="en-US" sz="1000" b="1" i="1" dirty="0">
              <a:solidFill>
                <a:srgbClr val="0096C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Summer School 2026  |  ACE-Uganda  |  UVRI  |  MRC/UVRI &amp; LSHTM Uganda Research Unit</a:t>
            </a:r>
            <a:r>
              <a:rPr lang="en-US" sz="900" b="1"/>
              <a:t> </a:t>
            </a:r>
            <a:r>
              <a:rPr lang="en-US" sz="9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Day 1</a:t>
            </a:r>
            <a:endParaRPr lang="en-US" sz="900" b="1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4864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29768" y="10789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Bolyen et al. (2019)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9768" y="12801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interactive, scalable microbiome data science using QIIME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Biotechnology 37: 852–857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792224"/>
            <a:ext cx="54864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29768" y="17922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Callahan et al. (2016)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9933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DADA2: High-resolution sample inference from Illumina amplicon data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219456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Methods 13: 581–583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54864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29768" y="250545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Quast et al. (2013)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27066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SILVA ribosomal RNA gene database project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" y="29077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Nucleic Acids Research 41: D590–D596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1078992"/>
            <a:ext cx="54864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773168" y="10789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 et al. (2024)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73168" y="12801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Greengenes2 unifies microbial data in a single reference tree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148132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Biotechnology 41: 1730–1737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792224"/>
            <a:ext cx="54864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773168" y="17922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Curry et al. (2022)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19933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Emu: species-level profiling of full-length 16S rRNA ONT 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3168" y="219456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Methods 19: 845–853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505456"/>
            <a:ext cx="54864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4773168" y="250545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 et al. (2016)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73168" y="27066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SeqKit: a cross-platform ultrafast toolkit for FASTA/Q manipulation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3168" y="29077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ONE 11: e0163962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2621</Words>
  <Application>Microsoft Office PowerPoint</Application>
  <PresentationFormat>On-screen Show (16:9)</PresentationFormat>
  <Paragraphs>437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1: Foundations &amp; Amplicon Metagenomics</dc:title>
  <dc:subject>PptxGenJS Presentation</dc:subject>
  <dc:creator>AIMS Kampala Metagenomics Course</dc:creator>
  <cp:lastModifiedBy>Ephie Geza</cp:lastModifiedBy>
  <cp:revision>9</cp:revision>
  <dcterms:created xsi:type="dcterms:W3CDTF">2026-05-20T11:53:43Z</dcterms:created>
  <dcterms:modified xsi:type="dcterms:W3CDTF">2026-08-19T02:36:10Z</dcterms:modified>
</cp:coreProperties>
</file>