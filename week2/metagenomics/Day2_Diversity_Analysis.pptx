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82" r:id="rId14"/>
    <p:sldId id="268" r:id="rId15"/>
    <p:sldId id="269" r:id="rId16"/>
    <p:sldId id="270" r:id="rId17"/>
    <p:sldId id="276" r:id="rId18"/>
    <p:sldId id="280" r:id="rId19"/>
    <p:sldId id="271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66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  •  Beta diversity  •  Ordination  •  Composition analysis  •  Statistics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5546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richness, evenness, and phylogenetic diversity metrics.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530352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40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7066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dissimilarity matrices (Bray-Curtis, UniFrac) to compare communities.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30352" y="36027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02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968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PCoA and NMDS to visualise community structure in reduced dimensions.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919472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taxonomy bar plots and heatmaps to show community composition.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267712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754880" y="2267712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919472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340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27066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PERMANOVA, ANCOM-BC, and DESeq2 to identify significant differences.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754880" y="3529584"/>
            <a:ext cx="64008" cy="11155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919472" y="36027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602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9472" y="39684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diversity analyses using phyloseq, vegan, and ggplot2 in 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Recap: ASVs vs OTUs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from the feature table generated yesterday. Understanding ASVs vs OTUs is key to interpreting results: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3337558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OTUs (Operational Taxonomic Units)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ASVs (Amplicon Sequence Variants)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Sequences clustered at 97% similarity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sequences after error correction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Genus level (typically)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Species/strain level possible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Study-specific; cannot compare across studies easily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ASVs in different studies = same sequence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Chimeras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Post-clustering removal (UCHIME)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during error correction (DADA2)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UCLUST, VSEARCH, CD-HIT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DADA2, Deblur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Legacy; still used in some contexts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preferred modern 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Richness  •  Evenness  •  Phylogenetic Diversity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Day 2 — Diversity Analysis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Diversity: Within-Sample Diversity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 measures the diversity within a single sample.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64008" cy="1097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520440" y="1389888"/>
            <a:ext cx="914400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520440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Richness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673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distinct ASVs/OTUs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9019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 of species — sensitive to sequencing depth. Must rarefy before comparing.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4709160" y="1325880"/>
            <a:ext cx="64008" cy="1097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7909560" y="1389888"/>
            <a:ext cx="914400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909560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Richness (estimated)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73752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3752" y="1673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S_obs + n₁²/(2n₂)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19019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total richness including unobserved rare species. n₁ = singletons, n₂ = doubletons.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20040" y="2560320"/>
            <a:ext cx="64008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520440" y="2624328"/>
            <a:ext cx="91440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520440" y="2624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Richness + Evenness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" y="2624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Index (H')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" y="29077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H' = −Σ pᵢ ln(pᵢ)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" y="3136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both species number AND how evenly distributed they are. Higher H = more diverse.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5603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709160" y="2560320"/>
            <a:ext cx="64008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7909560" y="2624328"/>
            <a:ext cx="91440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7909560" y="2624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Evenness-weighted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73752" y="2624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 Index (1-D)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29077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Σ pᵢ²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3136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two random individuals belong to different species. More weight on dominant species.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947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320040" y="3794760"/>
            <a:ext cx="64008" cy="10972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3520440" y="3858768"/>
            <a:ext cx="914400" cy="20116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3520440" y="3858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Faith's Phylogenetic Diversity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" y="41422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branch lengths in phylogeny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evolutionary diversity — two communities with same richness may have very different PD.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7947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4709160" y="3794760"/>
            <a:ext cx="64008" cy="10972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Shape 41"/>
          <p:cNvSpPr/>
          <p:nvPr/>
        </p:nvSpPr>
        <p:spPr>
          <a:xfrm>
            <a:off x="7909560" y="3858768"/>
            <a:ext cx="914400" cy="20116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7909560" y="3858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Evenness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73752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Pielou Evenness (J')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73752" y="41422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 = H' / ln(S)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73752" y="43708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0–1. J'=1 means all species equally abundant. Tells us if one species dominates.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Rarefaction: Why Sequencing Depth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samples may have different sequencing depths — this affects richness estimates. Rarefaction subsamples to equal depth for fair comparison.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A: 10,000 reads → 200 ASVs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B: 50,000 reads → 350 ASVs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B really more diverse — or just sequenced deeper?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754880" y="1581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 Curve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species richness vs sequencing depth. Curve flattens when most diversity is captured. Used to choose rarefaction depth.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14800" cy="41148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3227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 Depth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depth where most samples plateau. Samples below threshold are excluded. qiime diversity alpha-rarefaction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1148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754880" y="3227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to Rarefaction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DESeq2 normalisation (size factors)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CLR transformation (ALDEx2)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Rarefaction loses data — debate continues.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QIIME2 command: qiime diversity alpha-rarefaction --i-table table.qza --p-max-depth 10000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Bray-Curtis  •  UniFrac  •  Ordination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Day 2 — Diversity Analysis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Diversity: Between-Sample Diversity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 measures how different communities are from each other. Computed as a dissimilarity matrix.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64008" cy="16459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154680" y="1426464"/>
            <a:ext cx="1280160" cy="20116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154680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Abundance-based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Bray-Curtis Dissimilarity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737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(identical) → 1 (no overlap)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19476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= Σ|Aᵢ−Bᵢ| / Σ(Aᵢ+Bᵢ)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21945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used. Accounts for species presence AND relative abundance. Does not use phylogeny. Sensitive to dominant taxa.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353312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709160" y="1353312"/>
            <a:ext cx="64008" cy="1645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7543800" y="1426464"/>
            <a:ext cx="1280160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543800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Presence/absence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73752" y="1426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Distance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1737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→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19476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1 − |A∩B|/|A∪B|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21945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abundance — only asks "is species present or not?". Sensitive to rare species. Good for sparse datasets.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136392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320040" y="3136392"/>
            <a:ext cx="64008" cy="1645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3154680" y="3209544"/>
            <a:ext cx="128016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3154680" y="32095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 (P/A)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" y="3209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UniFrac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" y="3520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→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" y="37307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unique branch length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" y="39776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phylogenetic tree. Presence/absence only. Detects differences in rare lineages not captured by abundance.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136392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709160" y="3136392"/>
            <a:ext cx="64008" cy="1645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7543800" y="3209544"/>
            <a:ext cx="128016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543800" y="32095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 (abundance)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73752" y="3209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UniFrac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73752" y="3520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→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37307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relative abundance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73752" y="39776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 AND abundance-weighted. Most comprehensive but may miss rare taxa. Recommended as primary metric.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Ordination: Visualising Community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Ordination reduces the high-dimensional dissimilarity matrix to 2–3 dimensions for visualisation.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54864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Coordinates Analysis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global structure well. Any distance matrix as input. Axes explain % variance.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relationships. Negative eigenvalues possible with some metrics.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7764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 microbiome. QIIME2 outputs PCoA by default (Emperor plots).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200400" y="1417320"/>
            <a:ext cx="2743200" cy="548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291840" y="1435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NMDS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51960" y="1490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Non-Metric Multidimensional Scaling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258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relationships. Stress value measures goodness of fit. More flexible.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788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variance explained %. Stochastic — results can vary between runs (set.seed!).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547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7764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PCoA gives poor representation. Commonly used with Bray-Curtis in vegan.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126480" y="1417320"/>
            <a:ext cx="274320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217920" y="1435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1490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258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 many fields. Loadings show which taxa drive variation. Fast computation.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788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Euclidean distance. Not appropriate for raw counts (use CLR-transformed data).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547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7764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 CLR-transformed data. ALDEx2 and ANCOM-BC workflows. Aitchison PCA.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9423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&lt; 0.1 = good NMDS fit. PCoA axis labels show % variance explained. Always colour by metadata variable.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Composition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64008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84632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Plot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25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common. Shows relative abundance of each taxon per sample. Colour by phylum/genus. Group samples by metadata.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1579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Overview of community composition across samples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QIIME2 taxa barplot  or  ggplot2 + phyloseq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062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64008" cy="1874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873752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325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abundance matrix (taxa × samples). Cluster rows/columns by hierarchical clustering. Log-transform abundance for better colour scale.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21579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Compare top 20–50 taxa across many samples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73752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pheatmap  or  ComplexHeatmap (R)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2062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64008" cy="18745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4632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/ Dot Plot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prevalence vs mean abundance. Circle size = abundance, colour = taxon group. Good for identifying core vs. rare taxa.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4169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Exploring prevalence-abundance relationships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 + microbiome R package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2062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64008" cy="18745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873752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Krona Chart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337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radial chart showing hierarchical taxonomy. Drill down from kingdom → phylum → genus. Interactive HTML output.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4169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Visualising full taxonomic hierarchy interactively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73752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KronaTools (ktImportTaxonomy)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group samples by a metadata variable. Show top 10–20 taxa; collapse the rest into "Other".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Compositionality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 data are compositional: we observe relative abundances (counts that sum to a fixed total), not absolute cell numbers. This violates assumptions of standard statistical tests.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standard t-test or Wilcoxon FAILS on raw count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8412480" cy="77724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54864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 constraint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23744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relative abundances sum to 1 (or 100%). If taxon A increases, others must proportionally decrease even if they did not change in absolute terms. This creates spurious negative correlations between taxa.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4864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48640" y="3118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Subcompositional incoherence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74136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taxon can appear to increase or decrease depending on which other taxa you include in the analysis. Your statistical result changes with filtering choices, not just with biology.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412480" cy="77724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54864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48640" y="3968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and zero inflation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taxa have zero counts in many samples. Parametric tests assume continuous symmetric distributions. Zeros here are structural (true absences or below-detection limit), not missing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Compositionality: Absolute Abundance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abundance only tells you proportions. To recover true biomass or copy-number changes, sequencing must be paired with an independent, absolute quantification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escape the simplex — get real numbers, not proportions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8412480" cy="77724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54864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Spike-in controls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23744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known quantity of a non-native DNA/cell standard (e.g. synthetic spike-in, mock community) before extraction. Back-calculate absolute abundance from the ratio of reads to spike-in signal.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4864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48640" y="3118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qPCR / ddPCR total load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74136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total 16S/bacterial copy number per gram or mL with qPCR or droplet digital PCR, then multiply relative abundances by this total to get per-taxon absolute abundance.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8412480" cy="777240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54864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48640" y="39684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cytometry cell counts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count microbial cells per sample with flow cytometry (e.g. SYBR Green staining) — the gold standard for absolute abundance, independent of sequencing depth.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Differential Abundance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16052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ALDEx2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ANOVA-Like Differential Expression tool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397764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Centred Log-Ratio (CLR) Transformation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755139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Monte Carlo Dirichlet sampling: generates many plausible count tables to model count uncertainty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364740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CLR-transforms each table: log(xi / geometric mean) — removes the simplex constraint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974340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Runs Welch t-test + Wilcoxon on CLR values across all Monte Carlo instances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583940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Reports effect size (CLR difference) + expected p-value averaged over all instances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4114800"/>
            <a:ext cx="3977640" cy="711200"/>
          </a:xfrm>
          <a:prstGeom prst="rect">
            <a:avLst/>
          </a:prstGeom>
          <a:solidFill>
            <a:srgbClr val="E0F2FE"/>
          </a:solidFill>
          <a:ln w="635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4178300"/>
            <a:ext cx="3886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2-group comparisons. Conservative but robust FDR control.  |  Fernandes et al. 2014, PLOS Comp. Biol.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932688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709160" y="932688"/>
            <a:ext cx="4160520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006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ANCOM-BC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0600" y="12252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Compositions of Microbiomes with Bias Correction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463040"/>
            <a:ext cx="397764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846320" y="1481328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Log-Linear Model with Sampling Bias Correction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8888" y="1755139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Models log-counts with a sample-specific bias term for unequal library sizes and technical variation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18888" y="2364740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Estimates bias directly from data with no arbitrary reference taxon required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18888" y="2974340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Tests each taxon with a linear model; supports covariates (age, BMI, batch) and multi-group designs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3583940"/>
            <a:ext cx="393192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Controls FDR via Holm-Bonferroni or Benjamini-Hochberg correction across all taxa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4114800"/>
            <a:ext cx="3977640" cy="711200"/>
          </a:xfrm>
          <a:prstGeom prst="rect">
            <a:avLst/>
          </a:prstGeom>
          <a:solidFill>
            <a:srgbClr val="E0F2FE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846320" y="4178300"/>
            <a:ext cx="3886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multi-group, longitudinal, or covariate-adjusted analyses.  |  Lin &amp; Peddada 2020, Nature Communications.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98953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  •  Differential Abundance  •  Effect Sizes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Day 2 — Diversity Analysis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Statistical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88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7889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adonis2() in vegan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Permutation-based multivariate ANOVA on distance matrix.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group centroids differ (community structure).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R² (effect size) and p-value. Can handle multiple variables.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260604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11480" y="3401568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QIIME2: qiime diversity adonis2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adonis2(dist ~ group, data=meta)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788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00400" y="987552"/>
            <a:ext cx="2788920" cy="457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2918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anosim() in vegan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similarities.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within-group vs between-group dissimilarities.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statistic: 0=no difference, 1=perfect separation. Less powerful than PERMANOVA.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337560"/>
            <a:ext cx="260604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337560" y="3401568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anosim(dist, grouping=meta$group)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 R&gt;0.25 as meaningful separation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987552"/>
            <a:ext cx="2788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126480" y="987552"/>
            <a:ext cx="278892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2179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PERMDISP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4630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betadisper() in vegan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homogeneity of dispersion (variance).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before PERMANOVA — PERMANOVA sensitive to unequal dispersion. Tests whether groups differ in spread, not just centroid.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260604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6263640" y="3401568"/>
            <a:ext cx="2514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bd &lt;- betadisper(dist, meta$group)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permutest(bd)  # test dispersion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check: n per group ≥ 3 | homogeneous dispersion | correct distance metric for your data type.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specific taxa (ASVs, genera) are significantly more/less abundant between groups.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64008" cy="1554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971800" y="1444752"/>
            <a:ext cx="1463040" cy="228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297180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444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ANCOM-BC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1783080"/>
            <a:ext cx="3904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 for sampling fraction. Provides p-values and effect sizes. QIIME2 q2-composition.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ANCOMBC R package  |  qiime2 q2-composition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64008" cy="1554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7360920" y="1444752"/>
            <a:ext cx="1463040" cy="2286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36092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3752" y="1444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3752" y="1783080"/>
            <a:ext cx="3904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model. Designed for RNA-seq but widely applied to microbiome. Log2 fold change with shrinkage.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67004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Bioconductor: DESeq2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64008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2971800" y="3136392"/>
            <a:ext cx="1463040" cy="2286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2971800" y="31363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Compositionally valid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" y="3136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ALDEx2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" y="3474720"/>
            <a:ext cx="3904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Dirichlet sampling + CLR transformation. Bayesian uncertainty. Fewer false positives.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" y="436168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Bioconductor: ALDEx2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709160" y="3063240"/>
            <a:ext cx="64008" cy="1554480"/>
          </a:xfrm>
          <a:prstGeom prst="rect">
            <a:avLst/>
          </a:prstGeom>
          <a:solidFill>
            <a:srgbClr val="EA6C16"/>
          </a:solidFill>
          <a:ln w="12700">
            <a:solidFill>
              <a:srgbClr val="EA6C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7360920" y="3136392"/>
            <a:ext cx="1463040" cy="228600"/>
          </a:xfrm>
          <a:prstGeom prst="rect">
            <a:avLst/>
          </a:prstGeom>
          <a:solidFill>
            <a:srgbClr val="EA6C16"/>
          </a:solidFill>
          <a:ln w="12700">
            <a:solidFill>
              <a:srgbClr val="EA6C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7360920" y="31363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(legacy)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3752" y="3136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73752" y="3474720"/>
            <a:ext cx="3904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score for effect size. Widely used and cited but known for high false positive rate. Use with caution.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436168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A6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Galaxy web tool  |  bioconda lefse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Microbiome data is compositional — always consider this when choosing a test.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Co-occurrence Networks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SparCC  •  SPIEC-EASI  •  Network Topology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Day 2 — Diversity Analysis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Co-occurrence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160520" cy="475488"/>
          </a:xfrm>
          <a:prstGeom prst="rect">
            <a:avLst/>
          </a:prstGeom>
          <a:solidFill>
            <a:srgbClr val="0F6E96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SparCC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Correlations for Compositional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397764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Iterative Log-Ratio Correlation Estimation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17556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Estimates pairwise correlations between taxa using log-ratio variances, avoiding spurious correlations from standard Pearson/Spearman on compositional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Iteratively refines estimates, excluding highly correlated pairs that bias the variance calculation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7614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Uses bootstrapping/permutation to assign a p-value to each estimated correlation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26440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Outputs a taxon-taxon correlation matrix used to build a co-occurrence network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7933" y="4038600"/>
            <a:ext cx="3977640" cy="660400"/>
          </a:xfrm>
          <a:prstGeom prst="rect">
            <a:avLst/>
          </a:prstGeom>
          <a:solidFill>
            <a:srgbClr val="E0F2FE"/>
          </a:solidFill>
          <a:ln w="635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2628" y="4038600"/>
            <a:ext cx="3886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00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exploratory correlation networks from relative-abundance data.  |  Systematic evaluation: mSystems 2022, doi:10.1128/msystems.00961-22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32688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709160" y="932688"/>
            <a:ext cx="4160520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006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SPIEC-EASI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0600" y="12252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InversE Covariance Estimation for Ecological Association Inference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463040"/>
            <a:ext cx="397764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846320" y="1481328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Graphical Model (Inverse Covariance) Estimation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8888" y="17556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CLR-transforms taxon abundances, then estimates a sparse inverse covariance (precision) matrix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18888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Captures only direct associations — removes indirect correlations induced by shared confounders, unlike SparCC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18888" y="27614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Two estimation methods: Meinshausen-Bühlmann neighbourhood selection or graphical lasso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326440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Network edges = non-zero entries in the precision matrix; visualise with igraph or NetCoMi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4038600"/>
            <a:ext cx="3977640" cy="660400"/>
          </a:xfrm>
          <a:prstGeom prst="rect">
            <a:avLst/>
          </a:prstGeom>
          <a:solidFill>
            <a:srgbClr val="E0F2FE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818888" y="4038600"/>
            <a:ext cx="3886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0A5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direct, non-spurious association networks; sparser than SparCC.  |  Systematic evaluation: mSystems 2022, doi:10.1128/msystems.00961-22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45286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R-based Diversity Analysis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to phyloseq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389888"/>
            <a:ext cx="2651760" cy="566928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84048" y="14081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phyloseq(otu_table, sample_data,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tax_table, phy_tree)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029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feature table, metadata, taxonomy, and phylogeny into one phyloseq object.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88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273552" y="960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1005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Rarefy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389888"/>
            <a:ext cx="2651760" cy="566928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3310128" y="14081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prune_samples(sample_sums(ps)&gt;1000, ps)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rarefy_even_depth(ps, sample.size=5000)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73552" y="2029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low-count samples, rarefy to equal depth, remove low-prevalence taxa.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88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199632" y="960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1005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1389888"/>
            <a:ext cx="2651760" cy="566928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236208" y="14081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estimate_richness(ps, measures=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c("Shannon","Chao1","Observed"))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99632" y="2029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alpha diversity metrics. Plot with ggplot2, test with Kruskal-Wallis or Wilcoxon.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718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2788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347472" y="30175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447288"/>
            <a:ext cx="2651760" cy="566928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4048" y="34655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&lt;- phyloseq::distance(ps, "bray")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ordinate(ps, "PCoA", distance=dist)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0873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matrix, run ordination, visualise with plot_ordination(). Run PERMANOVA.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29718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3200400" y="2971800"/>
            <a:ext cx="2788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3273552" y="30175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65760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Plots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73552" y="3447288"/>
            <a:ext cx="2651760" cy="566928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3310128" y="34655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ps_genus &lt;- tax_glom(ps, "Genus")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plot_bar(ps_genus, fill="Phylum")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73552" y="40873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Agglomerate to genus/phylum level, create stacked bar plots, normalise to relative abundance.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29718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6126480" y="2971800"/>
            <a:ext cx="2788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6199632" y="30175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58368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99632" y="3447288"/>
            <a:ext cx="2651760" cy="566928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6236208" y="346557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library(ANCOMBC)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ancombc2(data=ps, fix_formula="group")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9632" y="40873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ANCOM-BC2 or DESeq2, extract log2FC and adjusted p-values, plot volcano or forest plot.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PRACTICAL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Hands-On Session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4160520" cy="14447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73152" cy="14447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76072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 in 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QIIME2 output into phyloseq. Calculate Shannon, Chao1, Faith's PD. Plot boxplots by metadata group. Run Kruskal-Wallis test.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160520" cy="14447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73152" cy="14447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965192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8013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 &amp; PCoA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2194560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Bray-Curtis and weighted UniFrac. Run PCoA ordination. Plot Emperor (QIIME2) and ggplot2 (R) ordination plots. Run PERMANOVA.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64408"/>
            <a:ext cx="4160520" cy="14447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411480" y="3264408"/>
            <a:ext cx="73152" cy="14447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76072" y="33558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37413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Bar Plots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3767328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stacked bar plots in QIIME2 and R (phyloseq + ggplot2). Agglomerate to phylum and genus. Normalise to relative abundance.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64408"/>
            <a:ext cx="4160520" cy="1444752"/>
          </a:xfrm>
          <a:prstGeom prst="rect">
            <a:avLst/>
          </a:prstGeom>
          <a:solidFill>
            <a:srgbClr val="0D2137"/>
          </a:solidFill>
          <a:ln w="12700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800600" y="3264408"/>
            <a:ext cx="73152" cy="14447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965192" y="33558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337413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767328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ANCOM-BC2 comparing two groups. Run DESeq2 on the same data. Compare results. Plot volcano plot of log2FC vs adjusted p-value.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Summer School 2026  |  ACE-Uganda  |  UVRI  |  MRC/UVRI &amp; LSHTM Uganda Research Unit</a:t>
            </a:r>
            <a:r>
              <a:rPr 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Day 2 — Diversity Analysis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64008" cy="576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1060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0607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within-sample diversity. Key metrics: Shannon (richness+evenness), Chao1 (estimated richness), Faith's PD (phylogenetic).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64008" cy="576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48640" y="1728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Rarefaction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7282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sequencing depth before comparing alpha diversity. Choose depth at curve plateau.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64008" cy="576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4864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diversity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3957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Between-sample dissimilarity. Bray-Curtis (abundance), UniFrac (phylogenetic). Stored as distance matrix.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65760" y="2990088"/>
            <a:ext cx="64008" cy="576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063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or NMDS reduces high-dimensional data to 2D for visualisation. Colour by metadata.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64008" cy="576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48640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7307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PERMANOVA tests group-level differences. Always check dispersion (PERMDISP) first.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25112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64008" cy="576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48640" y="4398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4398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ANCOM-BC or DESeq2 identify taxa differing between groups. Avoid naive t-tests on compositional data.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tomorrow → Shotgun Metagenomics &amp; De Novo Assembly (QC → host removal → Kraken2 → MEGAHIT)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29768" y="10789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McMurdie &amp; Holmes (2013)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phyloseq: R Package for Reproducible Microbiome Census Data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8: e61217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792224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29768" y="17922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Oksanen et al. (2022)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9933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vegan: Community Ecology Package (R)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21945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 v2.6-4 — CRAN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29768" y="2505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&amp; Peddada (2020)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7066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compositions of microbiomes with bias correction (ANCOM-BC)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29077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Communications 11: 3514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078992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773168" y="10789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et al. (2014)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1280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estimation of fold change and dispersion with DESeq2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4813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Biology 15: 550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792224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773168" y="17922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Fernandes et al. (2014)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19933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the analysis of high-throughput sequencing datasets (ALDEx2)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1945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Computational Biology 10: e1003531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505456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773168" y="2505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(1992)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27066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evaluation and phylogenetic diversity (Faith's PD)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29077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Conservation 61: 1–10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6AAF4B-29B2-4536-B300-9201B017B1C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3d81985d-23bc-48fc-9244-cbcb2a39368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2970</Words>
  <Application>Microsoft Office PowerPoint</Application>
  <PresentationFormat>On-screen Show (16:9)</PresentationFormat>
  <Paragraphs>362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Diversity Analysis</dc:title>
  <dc:subject>PptxGenJS Presentation</dc:subject>
  <dc:creator>AIMS Kampala Metagenomics Course</dc:creator>
  <cp:lastModifiedBy>Ephie Geza</cp:lastModifiedBy>
  <cp:revision>15</cp:revision>
  <dcterms:created xsi:type="dcterms:W3CDTF">2026-05-20T10:56:11Z</dcterms:created>
  <dcterms:modified xsi:type="dcterms:W3CDTF">2026-08-19T03:50:41Z</dcterms:modified>
</cp:coreProperties>
</file>