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dbf188b24b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dbf188b24b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dbf188b24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dbf188b24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dbf188b24b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dbf188b24b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dbf188b24b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dbf188b24b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dbf188b24b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dbf188b24b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dbf188b24b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dbf188b24b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dbf188b24b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dbf188b24b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dbf188b24b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dbf188b24b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6e26d6a7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f6e26d6a7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dbf188b24b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dbf188b24b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dbf188b24b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dbf188b24b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dbf188b24b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dbf188b24b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dbf188b24b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dbf188b24b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hyperlink" Target="https://www.geeksforgeeks.org/linux-unix/architecture-of-linux-operating-syste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hyperlink" Target="https://www.geeksforgeeks.org/linux-unix/architecture-of-linux-operating-system/" TargetMode="External"/><Relationship Id="rId5"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hyperlink" Target="https://www.geeksforgeeks.org/linux-unix/architecture-of-linux-operating-system/" TargetMode="External"/><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hyperlink" Target="https://www.weka.io/learn/hpc/hpc-application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hyperlink" Target="https://www.geeksforgeeks.org/linux-unix/architecture-of-linux-operating-syste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146720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b="1" lang="en" sz="2400"/>
              <a:t>Introduction to Linux and High Performance Computing</a:t>
            </a:r>
            <a:endParaRPr b="1" sz="2400"/>
          </a:p>
          <a:p>
            <a:pPr indent="0" lvl="0" marL="0" rtl="0" algn="ctr">
              <a:spcBef>
                <a:spcPts val="0"/>
              </a:spcBef>
              <a:spcAft>
                <a:spcPts val="0"/>
              </a:spcAft>
              <a:buNone/>
            </a:pPr>
            <a:r>
              <a:t/>
            </a:r>
            <a:endParaRPr sz="5500"/>
          </a:p>
        </p:txBody>
      </p:sp>
      <p:sp>
        <p:nvSpPr>
          <p:cNvPr id="55" name="Google Shape;55;p13"/>
          <p:cNvSpPr txBox="1"/>
          <p:nvPr>
            <p:ph idx="1" type="subTitle"/>
          </p:nvPr>
        </p:nvSpPr>
        <p:spPr>
          <a:xfrm>
            <a:off x="69483" y="4727700"/>
            <a:ext cx="3682500" cy="4158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0"/>
              </a:spcAft>
              <a:buNone/>
            </a:pPr>
            <a:r>
              <a:rPr lang="en" sz="1500">
                <a:solidFill>
                  <a:schemeClr val="dk1"/>
                </a:solidFill>
              </a:rPr>
              <a:t>ABI </a:t>
            </a:r>
            <a:r>
              <a:rPr lang="en" sz="1500">
                <a:solidFill>
                  <a:schemeClr val="dk1"/>
                </a:solidFill>
              </a:rPr>
              <a:t>Summer School June 2026</a:t>
            </a:r>
            <a:endParaRPr sz="1500">
              <a:solidFill>
                <a:schemeClr val="dk1"/>
              </a:solidFill>
            </a:endParaRPr>
          </a:p>
        </p:txBody>
      </p:sp>
      <p:sp>
        <p:nvSpPr>
          <p:cNvPr id="56" name="Google Shape;56;p13"/>
          <p:cNvSpPr txBox="1"/>
          <p:nvPr>
            <p:ph idx="1" type="subTitle"/>
          </p:nvPr>
        </p:nvSpPr>
        <p:spPr>
          <a:xfrm>
            <a:off x="380725" y="298729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800">
                <a:solidFill>
                  <a:schemeClr val="dk1"/>
                </a:solidFill>
              </a:rPr>
              <a:t>Gloria Nakabiri, </a:t>
            </a:r>
            <a:r>
              <a:rPr lang="en" sz="1800">
                <a:solidFill>
                  <a:schemeClr val="dk1"/>
                </a:solidFill>
              </a:rPr>
              <a:t>David Twesigomwe, Ian Wasukira</a:t>
            </a:r>
            <a:endParaRPr sz="1800">
              <a:solidFill>
                <a:schemeClr val="dk1"/>
              </a:solidFill>
            </a:endParaRPr>
          </a:p>
        </p:txBody>
      </p:sp>
      <p:pic>
        <p:nvPicPr>
          <p:cNvPr id="57" name="Google Shape;57;p13"/>
          <p:cNvPicPr preferRelativeResize="0"/>
          <p:nvPr/>
        </p:nvPicPr>
        <p:blipFill>
          <a:blip r:embed="rId3">
            <a:alphaModFix/>
          </a:blip>
          <a:stretch>
            <a:fillRect/>
          </a:stretch>
        </p:blipFill>
        <p:spPr>
          <a:xfrm>
            <a:off x="83380" y="0"/>
            <a:ext cx="5048250" cy="1524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19490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What is Linux?</a:t>
            </a:r>
            <a:endParaRPr b="1"/>
          </a:p>
        </p:txBody>
      </p:sp>
      <p:sp>
        <p:nvSpPr>
          <p:cNvPr id="63" name="Google Shape;63;p14"/>
          <p:cNvSpPr txBox="1"/>
          <p:nvPr>
            <p:ph idx="1" type="body"/>
          </p:nvPr>
        </p:nvSpPr>
        <p:spPr>
          <a:xfrm>
            <a:off x="311700" y="800228"/>
            <a:ext cx="8520600" cy="7515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440"/>
              <a:buNone/>
            </a:pPr>
            <a:r>
              <a:rPr lang="en" sz="1980">
                <a:solidFill>
                  <a:schemeClr val="dk1"/>
                </a:solidFill>
                <a:highlight>
                  <a:srgbClr val="FFFFFF"/>
                </a:highlight>
              </a:rPr>
              <a:t>Linux is a free open-source derivative of the Unix Operating System (OS). </a:t>
            </a:r>
            <a:endParaRPr sz="1980">
              <a:solidFill>
                <a:schemeClr val="dk1"/>
              </a:solidFill>
              <a:highlight>
                <a:srgbClr val="FFFFFF"/>
              </a:highlight>
            </a:endParaRPr>
          </a:p>
          <a:p>
            <a:pPr indent="0" lvl="0" marL="0" rtl="0" algn="l">
              <a:lnSpc>
                <a:spcPct val="105000"/>
              </a:lnSpc>
              <a:spcBef>
                <a:spcPts val="1200"/>
              </a:spcBef>
              <a:spcAft>
                <a:spcPts val="0"/>
              </a:spcAft>
              <a:buSzPts val="440"/>
              <a:buNone/>
            </a:pPr>
            <a:r>
              <a:t/>
            </a:r>
            <a:endParaRPr sz="1980">
              <a:solidFill>
                <a:schemeClr val="dk1"/>
              </a:solidFill>
              <a:highlight>
                <a:srgbClr val="FFFFFF"/>
              </a:highlight>
            </a:endParaRPr>
          </a:p>
          <a:p>
            <a:pPr indent="0" lvl="0" marL="0" rtl="0" algn="l">
              <a:lnSpc>
                <a:spcPct val="105000"/>
              </a:lnSpc>
              <a:spcBef>
                <a:spcPts val="1200"/>
              </a:spcBef>
              <a:spcAft>
                <a:spcPts val="1200"/>
              </a:spcAft>
              <a:buSzPts val="440"/>
              <a:buNone/>
            </a:pPr>
            <a:r>
              <a:t/>
            </a:r>
            <a:endParaRPr sz="2220">
              <a:solidFill>
                <a:schemeClr val="dk1"/>
              </a:solidFill>
            </a:endParaRPr>
          </a:p>
        </p:txBody>
      </p:sp>
      <p:sp>
        <p:nvSpPr>
          <p:cNvPr id="64" name="Google Shape;64;p14"/>
          <p:cNvSpPr/>
          <p:nvPr/>
        </p:nvSpPr>
        <p:spPr>
          <a:xfrm>
            <a:off x="250164" y="2293817"/>
            <a:ext cx="4141200" cy="2389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800"/>
              <a:t>Original family of operating systems</a:t>
            </a:r>
            <a:r>
              <a:rPr lang="en" sz="2000"/>
              <a:t>—</a:t>
            </a:r>
            <a:r>
              <a:rPr lang="en" sz="1800">
                <a:solidFill>
                  <a:schemeClr val="dk1"/>
                </a:solidFill>
              </a:rPr>
              <a:t>often proprietary and commercially licensed</a:t>
            </a:r>
            <a:endParaRPr sz="1800">
              <a:solidFill>
                <a:schemeClr val="dk1"/>
              </a:solidFill>
            </a:endParaRPr>
          </a:p>
          <a:p>
            <a:pPr indent="0" lvl="0" marL="0" rtl="0" algn="ctr">
              <a:lnSpc>
                <a:spcPct val="115000"/>
              </a:lnSpc>
              <a:spcBef>
                <a:spcPts val="0"/>
              </a:spcBef>
              <a:spcAft>
                <a:spcPts val="0"/>
              </a:spcAft>
              <a:buNone/>
            </a:pPr>
            <a:r>
              <a:t/>
            </a:r>
            <a:endParaRPr sz="1800">
              <a:solidFill>
                <a:schemeClr val="dk1"/>
              </a:solidFill>
            </a:endParaRPr>
          </a:p>
          <a:p>
            <a:pPr indent="0" lvl="0" marL="0" rtl="0" algn="ctr">
              <a:lnSpc>
                <a:spcPct val="115000"/>
              </a:lnSpc>
              <a:spcBef>
                <a:spcPts val="0"/>
              </a:spcBef>
              <a:spcAft>
                <a:spcPts val="0"/>
              </a:spcAft>
              <a:buNone/>
            </a:pPr>
            <a:r>
              <a:rPr b="1" lang="en" sz="1800">
                <a:solidFill>
                  <a:schemeClr val="dk1"/>
                </a:solidFill>
              </a:rPr>
              <a:t>Distributions</a:t>
            </a:r>
            <a:r>
              <a:rPr lang="en" sz="1800">
                <a:solidFill>
                  <a:schemeClr val="dk1"/>
                </a:solidFill>
              </a:rPr>
              <a:t>: IBM AIX, HP-UX, Sun Solaris</a:t>
            </a:r>
            <a:endParaRPr sz="1800">
              <a:solidFill>
                <a:schemeClr val="dk1"/>
              </a:solidFill>
            </a:endParaRPr>
          </a:p>
        </p:txBody>
      </p:sp>
      <p:sp>
        <p:nvSpPr>
          <p:cNvPr id="65" name="Google Shape;65;p14"/>
          <p:cNvSpPr txBox="1"/>
          <p:nvPr/>
        </p:nvSpPr>
        <p:spPr>
          <a:xfrm>
            <a:off x="1598175" y="1556559"/>
            <a:ext cx="12090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dk1"/>
                </a:solidFill>
              </a:rPr>
              <a:t>Unix</a:t>
            </a:r>
            <a:endParaRPr b="1" sz="2000">
              <a:solidFill>
                <a:schemeClr val="dk1"/>
              </a:solidFill>
            </a:endParaRPr>
          </a:p>
        </p:txBody>
      </p:sp>
      <p:sp>
        <p:nvSpPr>
          <p:cNvPr id="66" name="Google Shape;66;p14"/>
          <p:cNvSpPr txBox="1"/>
          <p:nvPr/>
        </p:nvSpPr>
        <p:spPr>
          <a:xfrm>
            <a:off x="6614607" y="1626042"/>
            <a:ext cx="12651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dk1"/>
                </a:solidFill>
              </a:rPr>
              <a:t>Linux</a:t>
            </a:r>
            <a:endParaRPr b="1" sz="2000">
              <a:solidFill>
                <a:schemeClr val="dk1"/>
              </a:solidFill>
            </a:endParaRPr>
          </a:p>
        </p:txBody>
      </p:sp>
      <p:sp>
        <p:nvSpPr>
          <p:cNvPr id="67" name="Google Shape;67;p14"/>
          <p:cNvSpPr/>
          <p:nvPr/>
        </p:nvSpPr>
        <p:spPr>
          <a:xfrm>
            <a:off x="4669288" y="2293817"/>
            <a:ext cx="4224600" cy="2389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Open source OS based on Unix. </a:t>
            </a:r>
            <a:endParaRPr sz="1800"/>
          </a:p>
          <a:p>
            <a:pPr indent="0" lvl="0" marL="0" rtl="0" algn="ctr">
              <a:spcBef>
                <a:spcPts val="0"/>
              </a:spcBef>
              <a:spcAft>
                <a:spcPts val="0"/>
              </a:spcAft>
              <a:buNone/>
            </a:pPr>
            <a:r>
              <a:rPr lang="en" sz="1800"/>
              <a:t>It runs</a:t>
            </a:r>
            <a:r>
              <a:rPr lang="en" sz="1800">
                <a:solidFill>
                  <a:srgbClr val="161616"/>
                </a:solidFill>
                <a:highlight>
                  <a:srgbClr val="FFFFFF"/>
                </a:highlight>
              </a:rPr>
              <a:t> on computers, servers, mobile phones and a wide range of other devices</a:t>
            </a:r>
            <a:endParaRPr sz="1800"/>
          </a:p>
          <a:p>
            <a:pPr indent="0" lvl="0" marL="0" rtl="0" algn="ctr">
              <a:spcBef>
                <a:spcPts val="0"/>
              </a:spcBef>
              <a:spcAft>
                <a:spcPts val="0"/>
              </a:spcAft>
              <a:buNone/>
            </a:pPr>
            <a:r>
              <a:t/>
            </a:r>
            <a:endParaRPr sz="1800"/>
          </a:p>
          <a:p>
            <a:pPr indent="0" lvl="0" marL="0" rtl="0" algn="ctr">
              <a:spcBef>
                <a:spcPts val="0"/>
              </a:spcBef>
              <a:spcAft>
                <a:spcPts val="0"/>
              </a:spcAft>
              <a:buNone/>
            </a:pPr>
            <a:r>
              <a:rPr b="1" lang="en" sz="1800"/>
              <a:t>Distributions</a:t>
            </a:r>
            <a:r>
              <a:rPr lang="en" sz="1800"/>
              <a:t>: </a:t>
            </a:r>
            <a:r>
              <a:rPr lang="en" sz="1800">
                <a:solidFill>
                  <a:srgbClr val="1F2328"/>
                </a:solidFill>
                <a:highlight>
                  <a:srgbClr val="FFFFFF"/>
                </a:highlight>
              </a:rPr>
              <a:t>Ubuntu, Redhat, Fedora, Debian, Android</a:t>
            </a:r>
            <a:endParaRPr sz="1800"/>
          </a:p>
        </p:txBody>
      </p:sp>
      <p:pic>
        <p:nvPicPr>
          <p:cNvPr id="68" name="Google Shape;68;p14"/>
          <p:cNvPicPr preferRelativeResize="0"/>
          <p:nvPr/>
        </p:nvPicPr>
        <p:blipFill>
          <a:blip r:embed="rId3">
            <a:alphaModFix/>
          </a:blip>
          <a:stretch>
            <a:fillRect/>
          </a:stretch>
        </p:blipFill>
        <p:spPr>
          <a:xfrm>
            <a:off x="5932993" y="1306265"/>
            <a:ext cx="890275" cy="890275"/>
          </a:xfrm>
          <a:prstGeom prst="rect">
            <a:avLst/>
          </a:prstGeom>
          <a:noFill/>
          <a:ln>
            <a:noFill/>
          </a:ln>
        </p:spPr>
      </p:pic>
      <p:sp>
        <p:nvSpPr>
          <p:cNvPr id="69" name="Google Shape;69;p14"/>
          <p:cNvSpPr txBox="1"/>
          <p:nvPr>
            <p:ph idx="4294967295" type="subTitle"/>
          </p:nvPr>
        </p:nvSpPr>
        <p:spPr>
          <a:xfrm>
            <a:off x="166760" y="4741597"/>
            <a:ext cx="3682500" cy="4158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None/>
            </a:pPr>
            <a:r>
              <a:rPr lang="en" sz="1500">
                <a:solidFill>
                  <a:schemeClr val="dk1"/>
                </a:solidFill>
              </a:rPr>
              <a:t>ABI Summer School, June 2026</a:t>
            </a:r>
            <a:endParaRPr sz="15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413950" y="239475"/>
            <a:ext cx="7756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Importance of Linux</a:t>
            </a:r>
            <a:endParaRPr b="1"/>
          </a:p>
        </p:txBody>
      </p:sp>
      <p:sp>
        <p:nvSpPr>
          <p:cNvPr id="75" name="Google Shape;75;p15"/>
          <p:cNvSpPr txBox="1"/>
          <p:nvPr>
            <p:ph idx="1" type="body"/>
          </p:nvPr>
        </p:nvSpPr>
        <p:spPr>
          <a:xfrm>
            <a:off x="311700" y="991900"/>
            <a:ext cx="8441400" cy="3804000"/>
          </a:xfrm>
          <a:prstGeom prst="rect">
            <a:avLst/>
          </a:prstGeom>
        </p:spPr>
        <p:txBody>
          <a:bodyPr anchorCtr="0" anchor="t" bIns="91425" lIns="91425" spcFirstLastPara="1" rIns="91425" wrap="square" tIns="91425">
            <a:normAutofit lnSpcReduction="20000"/>
          </a:bodyPr>
          <a:lstStyle/>
          <a:p>
            <a:pPr indent="-352425" lvl="0" marL="457200" rtl="0" algn="l">
              <a:lnSpc>
                <a:spcPct val="200000"/>
              </a:lnSpc>
              <a:spcBef>
                <a:spcPts val="0"/>
              </a:spcBef>
              <a:spcAft>
                <a:spcPts val="0"/>
              </a:spcAft>
              <a:buClr>
                <a:schemeClr val="dk1"/>
              </a:buClr>
              <a:buSzPts val="1950"/>
              <a:buChar char="●"/>
            </a:pPr>
            <a:r>
              <a:rPr lang="en" sz="1950">
                <a:solidFill>
                  <a:schemeClr val="dk1"/>
                </a:solidFill>
              </a:rPr>
              <a:t>Offers high security and stability, making it ideal for servers and development work – supporting safe data storage &amp; </a:t>
            </a:r>
            <a:r>
              <a:rPr b="1" lang="en" sz="1950">
                <a:solidFill>
                  <a:schemeClr val="dk1"/>
                </a:solidFill>
              </a:rPr>
              <a:t>multi-user systems</a:t>
            </a:r>
            <a:endParaRPr b="1" sz="1950">
              <a:solidFill>
                <a:schemeClr val="dk1"/>
              </a:solidFill>
            </a:endParaRPr>
          </a:p>
          <a:p>
            <a:pPr indent="-352425" lvl="0" marL="457200" rtl="0" algn="l">
              <a:lnSpc>
                <a:spcPct val="200000"/>
              </a:lnSpc>
              <a:spcBef>
                <a:spcPts val="0"/>
              </a:spcBef>
              <a:spcAft>
                <a:spcPts val="0"/>
              </a:spcAft>
              <a:buClr>
                <a:schemeClr val="dk1"/>
              </a:buClr>
              <a:buSzPts val="1950"/>
              <a:buChar char="●"/>
            </a:pPr>
            <a:r>
              <a:rPr lang="en" sz="1950">
                <a:solidFill>
                  <a:schemeClr val="dk1"/>
                </a:solidFill>
              </a:rPr>
              <a:t>Fully open-source and free to use, modify, and distribute.</a:t>
            </a:r>
            <a:endParaRPr sz="1950">
              <a:solidFill>
                <a:schemeClr val="dk1"/>
              </a:solidFill>
            </a:endParaRPr>
          </a:p>
          <a:p>
            <a:pPr indent="-352425" lvl="0" marL="457200" rtl="0" algn="l">
              <a:lnSpc>
                <a:spcPct val="200000"/>
              </a:lnSpc>
              <a:spcBef>
                <a:spcPts val="0"/>
              </a:spcBef>
              <a:spcAft>
                <a:spcPts val="0"/>
              </a:spcAft>
              <a:buClr>
                <a:schemeClr val="dk1"/>
              </a:buClr>
              <a:buSzPts val="1950"/>
              <a:buChar char="●"/>
            </a:pPr>
            <a:r>
              <a:rPr lang="en" sz="1950">
                <a:solidFill>
                  <a:schemeClr val="dk1"/>
                </a:solidFill>
              </a:rPr>
              <a:t>Highly flexible and customisable to suit different user and industry needs – </a:t>
            </a:r>
            <a:r>
              <a:rPr b="1" lang="en" sz="1950">
                <a:solidFill>
                  <a:schemeClr val="dk1"/>
                </a:solidFill>
              </a:rPr>
              <a:t>portability</a:t>
            </a:r>
            <a:endParaRPr b="1" sz="1950">
              <a:solidFill>
                <a:schemeClr val="dk1"/>
              </a:solidFill>
            </a:endParaRPr>
          </a:p>
          <a:p>
            <a:pPr indent="-352425" lvl="0" marL="457200" rtl="0" algn="l">
              <a:lnSpc>
                <a:spcPct val="200000"/>
              </a:lnSpc>
              <a:spcBef>
                <a:spcPts val="0"/>
              </a:spcBef>
              <a:spcAft>
                <a:spcPts val="0"/>
              </a:spcAft>
              <a:buClr>
                <a:schemeClr val="dk1"/>
              </a:buClr>
              <a:buSzPts val="1950"/>
              <a:buChar char="●"/>
            </a:pPr>
            <a:r>
              <a:rPr lang="en" sz="1950">
                <a:solidFill>
                  <a:schemeClr val="dk1"/>
                </a:solidFill>
              </a:rPr>
              <a:t>Supported by a large global community and a vast software ecosystem</a:t>
            </a:r>
            <a:endParaRPr>
              <a:solidFill>
                <a:schemeClr val="dk1"/>
              </a:solidFill>
              <a:highlight>
                <a:srgbClr val="FFFFFF"/>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11700" y="194918"/>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Where is Linux used?</a:t>
            </a:r>
            <a:endParaRPr/>
          </a:p>
        </p:txBody>
      </p:sp>
      <p:pic>
        <p:nvPicPr>
          <p:cNvPr id="81" name="Google Shape;81;p16"/>
          <p:cNvPicPr preferRelativeResize="0"/>
          <p:nvPr/>
        </p:nvPicPr>
        <p:blipFill rotWithShape="1">
          <a:blip r:embed="rId3">
            <a:alphaModFix/>
          </a:blip>
          <a:srcRect b="0" l="0" r="0" t="14879"/>
          <a:stretch/>
        </p:blipFill>
        <p:spPr>
          <a:xfrm>
            <a:off x="311690" y="969225"/>
            <a:ext cx="8520600" cy="3626343"/>
          </a:xfrm>
          <a:prstGeom prst="rect">
            <a:avLst/>
          </a:prstGeom>
          <a:noFill/>
          <a:ln>
            <a:noFill/>
          </a:ln>
        </p:spPr>
      </p:pic>
      <p:sp>
        <p:nvSpPr>
          <p:cNvPr id="82" name="Google Shape;82;p16"/>
          <p:cNvSpPr txBox="1"/>
          <p:nvPr>
            <p:ph idx="4294967295" type="subTitle"/>
          </p:nvPr>
        </p:nvSpPr>
        <p:spPr>
          <a:xfrm>
            <a:off x="311700" y="4727700"/>
            <a:ext cx="3682500" cy="4158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None/>
            </a:pPr>
            <a:r>
              <a:rPr lang="en" sz="1500">
                <a:solidFill>
                  <a:schemeClr val="dk1"/>
                </a:solidFill>
              </a:rPr>
              <a:t>ABI Summer School June 2026</a:t>
            </a:r>
            <a:endParaRPr sz="1500">
              <a:solidFill>
                <a:schemeClr val="dk1"/>
              </a:solidFill>
            </a:endParaRPr>
          </a:p>
        </p:txBody>
      </p:sp>
      <p:sp>
        <p:nvSpPr>
          <p:cNvPr id="83" name="Google Shape;83;p16"/>
          <p:cNvSpPr txBox="1"/>
          <p:nvPr/>
        </p:nvSpPr>
        <p:spPr>
          <a:xfrm>
            <a:off x="3763025" y="4741600"/>
            <a:ext cx="5327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hlink"/>
                </a:solidFill>
                <a:hlinkClick r:id="rId4"/>
              </a:rPr>
              <a:t>https://www.geeksforgeeks.org/linux-unix/architecture-of-linux-operating-system/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00" y="19490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020"/>
              <a:t>Basic Linux Architecture</a:t>
            </a:r>
            <a:endParaRPr sz="2020"/>
          </a:p>
        </p:txBody>
      </p:sp>
      <p:sp>
        <p:nvSpPr>
          <p:cNvPr id="89" name="Google Shape;89;p17"/>
          <p:cNvSpPr txBox="1"/>
          <p:nvPr>
            <p:ph idx="4294967295" type="subTitle"/>
          </p:nvPr>
        </p:nvSpPr>
        <p:spPr>
          <a:xfrm>
            <a:off x="166760" y="4741597"/>
            <a:ext cx="3682500" cy="4158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None/>
            </a:pPr>
            <a:r>
              <a:rPr lang="en" sz="1500">
                <a:solidFill>
                  <a:schemeClr val="dk1"/>
                </a:solidFill>
              </a:rPr>
              <a:t>ABI Summer School, June 2026</a:t>
            </a:r>
            <a:endParaRPr sz="1500">
              <a:solidFill>
                <a:schemeClr val="dk1"/>
              </a:solidFill>
            </a:endParaRPr>
          </a:p>
        </p:txBody>
      </p:sp>
      <p:pic>
        <p:nvPicPr>
          <p:cNvPr id="90" name="Google Shape;90;p17"/>
          <p:cNvPicPr preferRelativeResize="0"/>
          <p:nvPr/>
        </p:nvPicPr>
        <p:blipFill>
          <a:blip r:embed="rId3">
            <a:alphaModFix/>
          </a:blip>
          <a:stretch>
            <a:fillRect/>
          </a:stretch>
        </p:blipFill>
        <p:spPr>
          <a:xfrm>
            <a:off x="146299" y="1015643"/>
            <a:ext cx="3682500" cy="3477907"/>
          </a:xfrm>
          <a:prstGeom prst="rect">
            <a:avLst/>
          </a:prstGeom>
          <a:noFill/>
          <a:ln>
            <a:noFill/>
          </a:ln>
        </p:spPr>
      </p:pic>
      <p:sp>
        <p:nvSpPr>
          <p:cNvPr id="91" name="Google Shape;91;p17"/>
          <p:cNvSpPr txBox="1"/>
          <p:nvPr/>
        </p:nvSpPr>
        <p:spPr>
          <a:xfrm>
            <a:off x="3763025" y="4741600"/>
            <a:ext cx="5327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hlink"/>
                </a:solidFill>
                <a:hlinkClick r:id="rId4"/>
              </a:rPr>
              <a:t>https://www.geeksforgeeks.org/linux-unix/architecture-of-linux-operating-system/</a:t>
            </a:r>
            <a:endParaRPr/>
          </a:p>
        </p:txBody>
      </p:sp>
      <p:pic>
        <p:nvPicPr>
          <p:cNvPr id="92" name="Google Shape;92;p17" title="Screenshot 2026-05-04 at 19.16.51.png"/>
          <p:cNvPicPr preferRelativeResize="0"/>
          <p:nvPr/>
        </p:nvPicPr>
        <p:blipFill rotWithShape="1">
          <a:blip r:embed="rId5">
            <a:alphaModFix/>
          </a:blip>
          <a:srcRect b="0" l="2014" r="1152" t="0"/>
          <a:stretch/>
        </p:blipFill>
        <p:spPr>
          <a:xfrm>
            <a:off x="4006000" y="1636125"/>
            <a:ext cx="5002625" cy="21167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type="title"/>
          </p:nvPr>
        </p:nvSpPr>
        <p:spPr>
          <a:xfrm>
            <a:off x="311700" y="19490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020"/>
              <a:t>Basic Linux Architecture</a:t>
            </a:r>
            <a:endParaRPr sz="2020"/>
          </a:p>
        </p:txBody>
      </p:sp>
      <p:sp>
        <p:nvSpPr>
          <p:cNvPr id="98" name="Google Shape;98;p18"/>
          <p:cNvSpPr txBox="1"/>
          <p:nvPr>
            <p:ph idx="4294967295" type="subTitle"/>
          </p:nvPr>
        </p:nvSpPr>
        <p:spPr>
          <a:xfrm>
            <a:off x="166760" y="4741597"/>
            <a:ext cx="3682500" cy="4158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None/>
            </a:pPr>
            <a:r>
              <a:rPr lang="en" sz="1500">
                <a:solidFill>
                  <a:schemeClr val="dk1"/>
                </a:solidFill>
              </a:rPr>
              <a:t>ABI Summer School, June 2026</a:t>
            </a:r>
            <a:endParaRPr sz="1500">
              <a:solidFill>
                <a:schemeClr val="dk1"/>
              </a:solidFill>
            </a:endParaRPr>
          </a:p>
        </p:txBody>
      </p:sp>
      <p:pic>
        <p:nvPicPr>
          <p:cNvPr id="99" name="Google Shape;99;p18"/>
          <p:cNvPicPr preferRelativeResize="0"/>
          <p:nvPr/>
        </p:nvPicPr>
        <p:blipFill>
          <a:blip r:embed="rId3">
            <a:alphaModFix/>
          </a:blip>
          <a:stretch>
            <a:fillRect/>
          </a:stretch>
        </p:blipFill>
        <p:spPr>
          <a:xfrm>
            <a:off x="166750" y="1015643"/>
            <a:ext cx="3682500" cy="3477907"/>
          </a:xfrm>
          <a:prstGeom prst="rect">
            <a:avLst/>
          </a:prstGeom>
          <a:noFill/>
          <a:ln>
            <a:noFill/>
          </a:ln>
        </p:spPr>
      </p:pic>
      <p:sp>
        <p:nvSpPr>
          <p:cNvPr id="100" name="Google Shape;100;p18"/>
          <p:cNvSpPr txBox="1"/>
          <p:nvPr/>
        </p:nvSpPr>
        <p:spPr>
          <a:xfrm>
            <a:off x="3763025" y="4741600"/>
            <a:ext cx="5327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hlink"/>
                </a:solidFill>
                <a:hlinkClick r:id="rId4"/>
              </a:rPr>
              <a:t>https://www.geeksforgeeks.org/linux-unix/architecture-of-linux-operating-system/</a:t>
            </a:r>
            <a:endParaRPr/>
          </a:p>
        </p:txBody>
      </p:sp>
      <p:pic>
        <p:nvPicPr>
          <p:cNvPr id="101" name="Google Shape;101;p18"/>
          <p:cNvPicPr preferRelativeResize="0"/>
          <p:nvPr/>
        </p:nvPicPr>
        <p:blipFill>
          <a:blip r:embed="rId5">
            <a:alphaModFix/>
          </a:blip>
          <a:stretch>
            <a:fillRect/>
          </a:stretch>
        </p:blipFill>
        <p:spPr>
          <a:xfrm>
            <a:off x="4202125" y="1453655"/>
            <a:ext cx="4799700" cy="2399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type="title"/>
          </p:nvPr>
        </p:nvSpPr>
        <p:spPr>
          <a:xfrm>
            <a:off x="413950" y="259926"/>
            <a:ext cx="7756200" cy="572700"/>
          </a:xfrm>
          <a:prstGeom prst="rect">
            <a:avLst/>
          </a:prstGeom>
        </p:spPr>
        <p:txBody>
          <a:bodyPr anchorCtr="0" anchor="t" bIns="91425" lIns="91425" spcFirstLastPara="1" rIns="91425" wrap="square" tIns="91425">
            <a:normAutofit/>
          </a:bodyPr>
          <a:lstStyle/>
          <a:p>
            <a:pPr indent="0" lvl="0" marL="0" rtl="0" algn="l">
              <a:lnSpc>
                <a:spcPct val="117000"/>
              </a:lnSpc>
              <a:spcBef>
                <a:spcPts val="0"/>
              </a:spcBef>
              <a:spcAft>
                <a:spcPts val="0"/>
              </a:spcAft>
              <a:buNone/>
            </a:pPr>
            <a:r>
              <a:rPr b="1" lang="en" sz="1700">
                <a:solidFill>
                  <a:srgbClr val="161616"/>
                </a:solidFill>
              </a:rPr>
              <a:t>What is high-performance computing (HPC)?</a:t>
            </a:r>
            <a:endParaRPr b="1"/>
          </a:p>
        </p:txBody>
      </p:sp>
      <p:sp>
        <p:nvSpPr>
          <p:cNvPr id="107" name="Google Shape;107;p19"/>
          <p:cNvSpPr txBox="1"/>
          <p:nvPr>
            <p:ph idx="1" type="body"/>
          </p:nvPr>
        </p:nvSpPr>
        <p:spPr>
          <a:xfrm>
            <a:off x="311700" y="899850"/>
            <a:ext cx="8441400" cy="3618000"/>
          </a:xfrm>
          <a:prstGeom prst="rect">
            <a:avLst/>
          </a:prstGeom>
        </p:spPr>
        <p:txBody>
          <a:bodyPr anchorCtr="0" anchor="t" bIns="91425" lIns="91425" spcFirstLastPara="1" rIns="91425" wrap="square" tIns="91425">
            <a:normAutofit/>
          </a:bodyPr>
          <a:lstStyle/>
          <a:p>
            <a:pPr indent="-352425" lvl="0" marL="457200" rtl="0" algn="l">
              <a:lnSpc>
                <a:spcPct val="150000"/>
              </a:lnSpc>
              <a:spcBef>
                <a:spcPts val="0"/>
              </a:spcBef>
              <a:spcAft>
                <a:spcPts val="0"/>
              </a:spcAft>
              <a:buClr>
                <a:schemeClr val="dk1"/>
              </a:buClr>
              <a:buSzPts val="1950"/>
              <a:buChar char="●"/>
            </a:pPr>
            <a:r>
              <a:rPr lang="en" sz="1500">
                <a:solidFill>
                  <a:srgbClr val="161616"/>
                </a:solidFill>
                <a:highlight>
                  <a:srgbClr val="FFFFFF"/>
                </a:highlight>
              </a:rPr>
              <a:t>Technology that uses clusters of powerful processors that work in parallel to process massive, multidimensional data sets and solve complex problems at extremely high speeds.</a:t>
            </a:r>
            <a:endParaRPr sz="1500">
              <a:solidFill>
                <a:srgbClr val="161616"/>
              </a:solidFill>
              <a:highlight>
                <a:srgbClr val="FFFFFF"/>
              </a:highlight>
            </a:endParaRPr>
          </a:p>
          <a:p>
            <a:pPr indent="0" lvl="0" marL="457200" rtl="0" algn="l">
              <a:lnSpc>
                <a:spcPct val="150000"/>
              </a:lnSpc>
              <a:spcBef>
                <a:spcPts val="1800"/>
              </a:spcBef>
              <a:spcAft>
                <a:spcPts val="1800"/>
              </a:spcAft>
              <a:buNone/>
            </a:pPr>
            <a:r>
              <a:t/>
            </a:r>
            <a:endParaRPr sz="1500">
              <a:solidFill>
                <a:srgbClr val="161616"/>
              </a:solidFill>
              <a:highlight>
                <a:srgbClr val="FFFFFF"/>
              </a:highlight>
            </a:endParaRPr>
          </a:p>
        </p:txBody>
      </p:sp>
      <p:pic>
        <p:nvPicPr>
          <p:cNvPr id="108" name="Google Shape;108;p19"/>
          <p:cNvPicPr preferRelativeResize="0"/>
          <p:nvPr/>
        </p:nvPicPr>
        <p:blipFill rotWithShape="1">
          <a:blip r:embed="rId3">
            <a:alphaModFix/>
          </a:blip>
          <a:srcRect b="8780" l="7349" r="7790" t="10444"/>
          <a:stretch/>
        </p:blipFill>
        <p:spPr>
          <a:xfrm>
            <a:off x="1891750" y="1799703"/>
            <a:ext cx="4683351" cy="3343450"/>
          </a:xfrm>
          <a:prstGeom prst="rect">
            <a:avLst/>
          </a:prstGeom>
          <a:noFill/>
          <a:ln>
            <a:noFill/>
          </a:ln>
        </p:spPr>
      </p:pic>
      <p:sp>
        <p:nvSpPr>
          <p:cNvPr id="109" name="Google Shape;109;p19"/>
          <p:cNvSpPr txBox="1"/>
          <p:nvPr>
            <p:ph idx="4294967295" type="subTitle"/>
          </p:nvPr>
        </p:nvSpPr>
        <p:spPr>
          <a:xfrm>
            <a:off x="166760" y="4741597"/>
            <a:ext cx="3682500" cy="4158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None/>
            </a:pPr>
            <a:r>
              <a:rPr lang="en" sz="1500">
                <a:solidFill>
                  <a:schemeClr val="dk1"/>
                </a:solidFill>
              </a:rPr>
              <a:t>ABI Summer School, June 2026</a:t>
            </a:r>
            <a:endParaRPr sz="1500">
              <a:solidFill>
                <a:schemeClr val="dk1"/>
              </a:solidFill>
            </a:endParaRPr>
          </a:p>
        </p:txBody>
      </p:sp>
      <p:sp>
        <p:nvSpPr>
          <p:cNvPr id="110" name="Google Shape;110;p19"/>
          <p:cNvSpPr txBox="1"/>
          <p:nvPr/>
        </p:nvSpPr>
        <p:spPr>
          <a:xfrm>
            <a:off x="6144000" y="4792728"/>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hlink"/>
                </a:solidFill>
                <a:hlinkClick r:id="rId4"/>
              </a:rPr>
              <a:t>https://www.weka.io/learn/hpc/hpc-applications/</a:t>
            </a:r>
            <a:endParaRPr sz="13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0"/>
          <p:cNvSpPr txBox="1"/>
          <p:nvPr>
            <p:ph type="title"/>
          </p:nvPr>
        </p:nvSpPr>
        <p:spPr>
          <a:xfrm>
            <a:off x="434425" y="445025"/>
            <a:ext cx="80733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020"/>
              <a:t>Importance of high performance computing</a:t>
            </a:r>
            <a:endParaRPr b="1" sz="2020"/>
          </a:p>
        </p:txBody>
      </p:sp>
      <p:sp>
        <p:nvSpPr>
          <p:cNvPr id="116" name="Google Shape;116;p20"/>
          <p:cNvSpPr txBox="1"/>
          <p:nvPr>
            <p:ph idx="1" type="body"/>
          </p:nvPr>
        </p:nvSpPr>
        <p:spPr>
          <a:xfrm>
            <a:off x="311700" y="1305850"/>
            <a:ext cx="8520600" cy="3416400"/>
          </a:xfrm>
          <a:prstGeom prst="rect">
            <a:avLst/>
          </a:prstGeom>
        </p:spPr>
        <p:txBody>
          <a:bodyPr anchorCtr="0" anchor="t" bIns="91425" lIns="91425" spcFirstLastPara="1" rIns="91425" wrap="square" tIns="91425">
            <a:noAutofit/>
          </a:bodyPr>
          <a:lstStyle/>
          <a:p>
            <a:pPr indent="-365125" lvl="0" marL="457200" rtl="0" algn="l">
              <a:lnSpc>
                <a:spcPct val="150000"/>
              </a:lnSpc>
              <a:spcBef>
                <a:spcPts val="0"/>
              </a:spcBef>
              <a:spcAft>
                <a:spcPts val="0"/>
              </a:spcAft>
              <a:buClr>
                <a:schemeClr val="dk1"/>
              </a:buClr>
              <a:buSzPts val="2150"/>
              <a:buChar char="●"/>
            </a:pPr>
            <a:r>
              <a:rPr lang="en" sz="2000">
                <a:solidFill>
                  <a:schemeClr val="dk1"/>
                </a:solidFill>
              </a:rPr>
              <a:t>Speed: Reduces processing times for large genomic datasets (through parallelisation and fast networks across elements)</a:t>
            </a:r>
            <a:endParaRPr sz="2000">
              <a:solidFill>
                <a:schemeClr val="dk1"/>
              </a:solidFill>
            </a:endParaRPr>
          </a:p>
          <a:p>
            <a:pPr indent="-365125" lvl="0" marL="457200" rtl="0" algn="l">
              <a:lnSpc>
                <a:spcPct val="150000"/>
              </a:lnSpc>
              <a:spcBef>
                <a:spcPts val="0"/>
              </a:spcBef>
              <a:spcAft>
                <a:spcPts val="0"/>
              </a:spcAft>
              <a:buClr>
                <a:schemeClr val="dk1"/>
              </a:buClr>
              <a:buSzPts val="2150"/>
              <a:buChar char="●"/>
            </a:pPr>
            <a:r>
              <a:rPr lang="en" sz="2000">
                <a:solidFill>
                  <a:schemeClr val="dk1"/>
                </a:solidFill>
              </a:rPr>
              <a:t>Scalability: Scales to meet the growing demand for data storage and processing.</a:t>
            </a:r>
            <a:endParaRPr sz="2000">
              <a:solidFill>
                <a:schemeClr val="dk1"/>
              </a:solidFill>
            </a:endParaRPr>
          </a:p>
          <a:p>
            <a:pPr indent="-365125" lvl="0" marL="457200" rtl="0" algn="l">
              <a:lnSpc>
                <a:spcPct val="150000"/>
              </a:lnSpc>
              <a:spcBef>
                <a:spcPts val="0"/>
              </a:spcBef>
              <a:spcAft>
                <a:spcPts val="0"/>
              </a:spcAft>
              <a:buClr>
                <a:schemeClr val="dk1"/>
              </a:buClr>
              <a:buSzPts val="2150"/>
              <a:buChar char="●"/>
            </a:pPr>
            <a:r>
              <a:rPr lang="en" sz="2000">
                <a:solidFill>
                  <a:schemeClr val="dk1"/>
                </a:solidFill>
              </a:rPr>
              <a:t>Accuracy: Improves the reliability of results through efficient data standardisation</a:t>
            </a:r>
            <a:endParaRPr sz="2000">
              <a:solidFill>
                <a:schemeClr val="dk1"/>
              </a:solidFill>
            </a:endParaRPr>
          </a:p>
          <a:p>
            <a:pPr indent="0" lvl="0" marL="457200" rtl="0" algn="l">
              <a:lnSpc>
                <a:spcPct val="150000"/>
              </a:lnSpc>
              <a:spcBef>
                <a:spcPts val="900"/>
              </a:spcBef>
              <a:spcAft>
                <a:spcPts val="0"/>
              </a:spcAft>
              <a:buNone/>
            </a:pPr>
            <a:r>
              <a:t/>
            </a:r>
            <a:endParaRPr sz="2150">
              <a:solidFill>
                <a:schemeClr val="dk1"/>
              </a:solidFill>
            </a:endParaRPr>
          </a:p>
          <a:p>
            <a:pPr indent="0" lvl="0" marL="0" rtl="0" algn="l">
              <a:lnSpc>
                <a:spcPct val="150000"/>
              </a:lnSpc>
              <a:spcBef>
                <a:spcPts val="1800"/>
              </a:spcBef>
              <a:spcAft>
                <a:spcPts val="1200"/>
              </a:spcAft>
              <a:buNone/>
            </a:pPr>
            <a:r>
              <a:t/>
            </a:r>
            <a:endParaRPr sz="2600">
              <a:solidFill>
                <a:schemeClr val="dk1"/>
              </a:solidFill>
            </a:endParaRPr>
          </a:p>
        </p:txBody>
      </p:sp>
      <p:sp>
        <p:nvSpPr>
          <p:cNvPr id="117" name="Google Shape;117;p20"/>
          <p:cNvSpPr txBox="1"/>
          <p:nvPr>
            <p:ph idx="4294967295" type="subTitle"/>
          </p:nvPr>
        </p:nvSpPr>
        <p:spPr>
          <a:xfrm>
            <a:off x="166760" y="4741597"/>
            <a:ext cx="3682500" cy="4158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None/>
            </a:pPr>
            <a:r>
              <a:rPr lang="en" sz="1500">
                <a:solidFill>
                  <a:schemeClr val="dk1"/>
                </a:solidFill>
              </a:rPr>
              <a:t>ABI Summer School, June 2026</a:t>
            </a:r>
            <a:endParaRPr sz="15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 cases of high performance computing</a:t>
            </a:r>
            <a:endParaRPr/>
          </a:p>
        </p:txBody>
      </p:sp>
      <p:sp>
        <p:nvSpPr>
          <p:cNvPr id="123" name="Google Shape;123;p21"/>
          <p:cNvSpPr txBox="1"/>
          <p:nvPr>
            <p:ph idx="1" type="body"/>
          </p:nvPr>
        </p:nvSpPr>
        <p:spPr>
          <a:xfrm>
            <a:off x="311700" y="1171463"/>
            <a:ext cx="8520600" cy="3416400"/>
          </a:xfrm>
          <a:prstGeom prst="rect">
            <a:avLst/>
          </a:prstGeom>
        </p:spPr>
        <p:txBody>
          <a:bodyPr anchorCtr="0" anchor="t" bIns="91425" lIns="91425" spcFirstLastPara="1" rIns="91425" wrap="square" tIns="91425">
            <a:noAutofit/>
          </a:bodyPr>
          <a:lstStyle/>
          <a:p>
            <a:pPr indent="-409575" lvl="0" marL="457200" rtl="0" algn="l">
              <a:spcBef>
                <a:spcPts val="0"/>
              </a:spcBef>
              <a:spcAft>
                <a:spcPts val="0"/>
              </a:spcAft>
              <a:buClr>
                <a:schemeClr val="dk1"/>
              </a:buClr>
              <a:buSzPts val="2850"/>
              <a:buChar char="●"/>
            </a:pPr>
            <a:r>
              <a:rPr lang="en" sz="1900">
                <a:solidFill>
                  <a:schemeClr val="dk1"/>
                </a:solidFill>
              </a:rPr>
              <a:t>Large Scale Genome Assembly and Read Alignment</a:t>
            </a:r>
            <a:endParaRPr sz="1900">
              <a:solidFill>
                <a:schemeClr val="dk1"/>
              </a:solidFill>
            </a:endParaRPr>
          </a:p>
          <a:p>
            <a:pPr indent="-409575" lvl="0" marL="457200" rtl="0" algn="l">
              <a:spcBef>
                <a:spcPts val="0"/>
              </a:spcBef>
              <a:spcAft>
                <a:spcPts val="0"/>
              </a:spcAft>
              <a:buClr>
                <a:schemeClr val="dk1"/>
              </a:buClr>
              <a:buSzPts val="2850"/>
              <a:buChar char="●"/>
            </a:pPr>
            <a:r>
              <a:rPr lang="en" sz="1900">
                <a:solidFill>
                  <a:schemeClr val="dk1"/>
                </a:solidFill>
              </a:rPr>
              <a:t>Large-scale Variant Calling and Annotation e.g. in population genetics and pathogen surveillance</a:t>
            </a:r>
            <a:endParaRPr sz="1900">
              <a:solidFill>
                <a:schemeClr val="dk1"/>
              </a:solidFill>
            </a:endParaRPr>
          </a:p>
          <a:p>
            <a:pPr indent="-409575" lvl="0" marL="457200" rtl="0" algn="l">
              <a:spcBef>
                <a:spcPts val="0"/>
              </a:spcBef>
              <a:spcAft>
                <a:spcPts val="0"/>
              </a:spcAft>
              <a:buClr>
                <a:schemeClr val="dk1"/>
              </a:buClr>
              <a:buSzPts val="2850"/>
              <a:buChar char="●"/>
            </a:pPr>
            <a:r>
              <a:rPr lang="en" sz="1900">
                <a:solidFill>
                  <a:schemeClr val="dk1"/>
                </a:solidFill>
              </a:rPr>
              <a:t>Pathogen genomics and Microbiome studies</a:t>
            </a:r>
            <a:endParaRPr sz="1900">
              <a:solidFill>
                <a:schemeClr val="dk1"/>
              </a:solidFill>
            </a:endParaRPr>
          </a:p>
          <a:p>
            <a:pPr indent="-409575" lvl="0" marL="457200" rtl="0" algn="l">
              <a:spcBef>
                <a:spcPts val="0"/>
              </a:spcBef>
              <a:spcAft>
                <a:spcPts val="0"/>
              </a:spcAft>
              <a:buClr>
                <a:schemeClr val="dk1"/>
              </a:buClr>
              <a:buSzPts val="2850"/>
              <a:buChar char="●"/>
            </a:pPr>
            <a:r>
              <a:rPr lang="en" sz="1900">
                <a:solidFill>
                  <a:schemeClr val="dk1"/>
                </a:solidFill>
              </a:rPr>
              <a:t>Protein Structure Prediction and </a:t>
            </a:r>
            <a:r>
              <a:rPr lang="en" sz="1900">
                <a:solidFill>
                  <a:schemeClr val="dk1"/>
                </a:solidFill>
              </a:rPr>
              <a:t>Molecular Dynamics</a:t>
            </a:r>
            <a:endParaRPr sz="1900">
              <a:solidFill>
                <a:schemeClr val="dk1"/>
              </a:solidFill>
            </a:endParaRPr>
          </a:p>
          <a:p>
            <a:pPr indent="-409575" lvl="0" marL="457200" rtl="0" algn="l">
              <a:spcBef>
                <a:spcPts val="0"/>
              </a:spcBef>
              <a:spcAft>
                <a:spcPts val="0"/>
              </a:spcAft>
              <a:buClr>
                <a:schemeClr val="dk1"/>
              </a:buClr>
              <a:buSzPts val="2850"/>
              <a:buChar char="●"/>
            </a:pPr>
            <a:r>
              <a:rPr lang="en" sz="1900">
                <a:solidFill>
                  <a:schemeClr val="dk1"/>
                </a:solidFill>
              </a:rPr>
              <a:t>Machine Learning Integration to detect complex patterns within omic datasets</a:t>
            </a:r>
            <a:endParaRPr sz="1900">
              <a:solidFill>
                <a:schemeClr val="dk1"/>
              </a:solidFill>
            </a:endParaRPr>
          </a:p>
          <a:p>
            <a:pPr indent="0" lvl="0" marL="457200" rtl="0" algn="l">
              <a:lnSpc>
                <a:spcPct val="150000"/>
              </a:lnSpc>
              <a:spcBef>
                <a:spcPts val="900"/>
              </a:spcBef>
              <a:spcAft>
                <a:spcPts val="0"/>
              </a:spcAft>
              <a:buNone/>
            </a:pPr>
            <a:r>
              <a:t/>
            </a:r>
            <a:endParaRPr sz="2850">
              <a:solidFill>
                <a:schemeClr val="dk1"/>
              </a:solidFill>
            </a:endParaRPr>
          </a:p>
          <a:p>
            <a:pPr indent="0" lvl="0" marL="0" rtl="0" algn="l">
              <a:lnSpc>
                <a:spcPct val="150000"/>
              </a:lnSpc>
              <a:spcBef>
                <a:spcPts val="1800"/>
              </a:spcBef>
              <a:spcAft>
                <a:spcPts val="1200"/>
              </a:spcAft>
              <a:buNone/>
            </a:pPr>
            <a:r>
              <a:t/>
            </a:r>
            <a:endParaRPr sz="3300">
              <a:solidFill>
                <a:schemeClr val="dk1"/>
              </a:solidFill>
            </a:endParaRPr>
          </a:p>
        </p:txBody>
      </p:sp>
      <p:sp>
        <p:nvSpPr>
          <p:cNvPr id="124" name="Google Shape;124;p21"/>
          <p:cNvSpPr txBox="1"/>
          <p:nvPr>
            <p:ph idx="4294967295" type="subTitle"/>
          </p:nvPr>
        </p:nvSpPr>
        <p:spPr>
          <a:xfrm>
            <a:off x="166760" y="4741597"/>
            <a:ext cx="3682500" cy="4158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None/>
            </a:pPr>
            <a:r>
              <a:rPr lang="en" sz="1500">
                <a:solidFill>
                  <a:schemeClr val="dk1"/>
                </a:solidFill>
              </a:rPr>
              <a:t>ABI Summer School, June 2026</a:t>
            </a:r>
            <a:endParaRPr sz="15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txBox="1"/>
          <p:nvPr>
            <p:ph type="title"/>
          </p:nvPr>
        </p:nvSpPr>
        <p:spPr>
          <a:xfrm>
            <a:off x="417525" y="116975"/>
            <a:ext cx="8049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Challenges in high performance computing</a:t>
            </a:r>
            <a:endParaRPr/>
          </a:p>
        </p:txBody>
      </p:sp>
      <p:sp>
        <p:nvSpPr>
          <p:cNvPr id="130" name="Google Shape;130;p22"/>
          <p:cNvSpPr txBox="1"/>
          <p:nvPr>
            <p:ph idx="1" type="body"/>
          </p:nvPr>
        </p:nvSpPr>
        <p:spPr>
          <a:xfrm>
            <a:off x="311700" y="831250"/>
            <a:ext cx="8049000" cy="3864000"/>
          </a:xfrm>
          <a:prstGeom prst="rect">
            <a:avLst/>
          </a:prstGeom>
        </p:spPr>
        <p:txBody>
          <a:bodyPr anchorCtr="0" anchor="t" bIns="91425" lIns="91425" spcFirstLastPara="1" rIns="91425" wrap="square" tIns="91425">
            <a:noAutofit/>
          </a:bodyPr>
          <a:lstStyle/>
          <a:p>
            <a:pPr indent="-327025" lvl="0" marL="457200" rtl="0" algn="just">
              <a:lnSpc>
                <a:spcPct val="200000"/>
              </a:lnSpc>
              <a:spcBef>
                <a:spcPts val="0"/>
              </a:spcBef>
              <a:spcAft>
                <a:spcPts val="0"/>
              </a:spcAft>
              <a:buClr>
                <a:srgbClr val="273239"/>
              </a:buClr>
              <a:buSzPts val="1550"/>
              <a:buFont typeface="Nunito"/>
              <a:buChar char="●"/>
            </a:pPr>
            <a:r>
              <a:rPr b="1" lang="en" sz="1550">
                <a:solidFill>
                  <a:srgbClr val="273239"/>
                </a:solidFill>
              </a:rPr>
              <a:t>Cost</a:t>
            </a:r>
            <a:r>
              <a:rPr lang="en" sz="1550">
                <a:solidFill>
                  <a:srgbClr val="273239"/>
                </a:solidFill>
              </a:rPr>
              <a:t>: The cost of the hardware, software, and energy consumption is enormous, making HPC systems exceedingly expensive to create and operate. Additionally, the setup and management of HPC systems require qualified workers, which raises the overall cost.</a:t>
            </a:r>
            <a:endParaRPr sz="1550">
              <a:solidFill>
                <a:srgbClr val="273239"/>
              </a:solidFill>
            </a:endParaRPr>
          </a:p>
          <a:p>
            <a:pPr indent="-327025" lvl="0" marL="457200" rtl="0" algn="just">
              <a:lnSpc>
                <a:spcPct val="200000"/>
              </a:lnSpc>
              <a:spcBef>
                <a:spcPts val="0"/>
              </a:spcBef>
              <a:spcAft>
                <a:spcPts val="0"/>
              </a:spcAft>
              <a:buClr>
                <a:srgbClr val="273239"/>
              </a:buClr>
              <a:buSzPts val="1550"/>
              <a:buFont typeface="Nunito"/>
              <a:buChar char="●"/>
            </a:pPr>
            <a:r>
              <a:rPr b="1" lang="en" sz="1550">
                <a:solidFill>
                  <a:srgbClr val="273239"/>
                </a:solidFill>
              </a:rPr>
              <a:t>Scalability</a:t>
            </a:r>
            <a:r>
              <a:rPr lang="en" sz="1550">
                <a:solidFill>
                  <a:srgbClr val="273239"/>
                </a:solidFill>
              </a:rPr>
              <a:t>: HPC systems must be made scalable so they may be modified or expanded as necessary to meet shifting demands. </a:t>
            </a:r>
            <a:endParaRPr sz="1550">
              <a:solidFill>
                <a:srgbClr val="273239"/>
              </a:solidFill>
            </a:endParaRPr>
          </a:p>
          <a:p>
            <a:pPr indent="-327025" lvl="0" marL="457200" rtl="0" algn="just">
              <a:lnSpc>
                <a:spcPct val="200000"/>
              </a:lnSpc>
              <a:spcBef>
                <a:spcPts val="0"/>
              </a:spcBef>
              <a:spcAft>
                <a:spcPts val="0"/>
              </a:spcAft>
              <a:buClr>
                <a:srgbClr val="273239"/>
              </a:buClr>
              <a:buSzPts val="1550"/>
              <a:buFont typeface="Nunito"/>
              <a:buChar char="●"/>
            </a:pPr>
            <a:r>
              <a:rPr b="1" lang="en" sz="1550">
                <a:solidFill>
                  <a:srgbClr val="273239"/>
                </a:solidFill>
              </a:rPr>
              <a:t>Data Management:</a:t>
            </a:r>
            <a:r>
              <a:rPr lang="en" sz="1550">
                <a:solidFill>
                  <a:srgbClr val="273239"/>
                </a:solidFill>
              </a:rPr>
              <a:t> Large </a:t>
            </a:r>
            <a:r>
              <a:rPr lang="en" sz="1550">
                <a:solidFill>
                  <a:srgbClr val="273239"/>
                </a:solidFill>
              </a:rPr>
              <a:t>volumes</a:t>
            </a:r>
            <a:r>
              <a:rPr lang="en" sz="1550">
                <a:solidFill>
                  <a:srgbClr val="273239"/>
                </a:solidFill>
              </a:rPr>
              <a:t> os data must be stored securely and accessed using sophisticated networking analysis infrastructure</a:t>
            </a:r>
            <a:endParaRPr sz="1550">
              <a:solidFill>
                <a:srgbClr val="273239"/>
              </a:solidFill>
            </a:endParaRPr>
          </a:p>
          <a:p>
            <a:pPr indent="0" lvl="0" marL="0" rtl="0" algn="just">
              <a:lnSpc>
                <a:spcPct val="200000"/>
              </a:lnSpc>
              <a:spcBef>
                <a:spcPts val="1800"/>
              </a:spcBef>
              <a:spcAft>
                <a:spcPts val="1200"/>
              </a:spcAft>
              <a:buNone/>
            </a:pPr>
            <a:r>
              <a:t/>
            </a:r>
            <a:endParaRPr sz="2000"/>
          </a:p>
        </p:txBody>
      </p:sp>
      <p:sp>
        <p:nvSpPr>
          <p:cNvPr id="131" name="Google Shape;131;p22"/>
          <p:cNvSpPr txBox="1"/>
          <p:nvPr>
            <p:ph idx="4294967295" type="subTitle"/>
          </p:nvPr>
        </p:nvSpPr>
        <p:spPr>
          <a:xfrm>
            <a:off x="166760" y="4741597"/>
            <a:ext cx="3682500" cy="4158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None/>
            </a:pPr>
            <a:r>
              <a:rPr lang="en" sz="1500">
                <a:solidFill>
                  <a:schemeClr val="dk1"/>
                </a:solidFill>
              </a:rPr>
              <a:t>ABI Summer School, June 2026</a:t>
            </a:r>
            <a:endParaRPr sz="15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type="title"/>
          </p:nvPr>
        </p:nvSpPr>
        <p:spPr>
          <a:xfrm>
            <a:off x="375200" y="275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Challenges in high performance computing</a:t>
            </a:r>
            <a:endParaRPr/>
          </a:p>
        </p:txBody>
      </p:sp>
      <p:sp>
        <p:nvSpPr>
          <p:cNvPr id="137" name="Google Shape;137;p23"/>
          <p:cNvSpPr txBox="1"/>
          <p:nvPr>
            <p:ph idx="1" type="body"/>
          </p:nvPr>
        </p:nvSpPr>
        <p:spPr>
          <a:xfrm>
            <a:off x="311700" y="1055050"/>
            <a:ext cx="8052900" cy="3416400"/>
          </a:xfrm>
          <a:prstGeom prst="rect">
            <a:avLst/>
          </a:prstGeom>
        </p:spPr>
        <p:txBody>
          <a:bodyPr anchorCtr="0" anchor="t" bIns="91425" lIns="91425" spcFirstLastPara="1" rIns="91425" wrap="square" tIns="91425">
            <a:noAutofit/>
          </a:bodyPr>
          <a:lstStyle/>
          <a:p>
            <a:pPr indent="-333375" lvl="0" marL="457200" rtl="0" algn="l">
              <a:lnSpc>
                <a:spcPct val="150000"/>
              </a:lnSpc>
              <a:spcBef>
                <a:spcPts val="0"/>
              </a:spcBef>
              <a:spcAft>
                <a:spcPts val="0"/>
              </a:spcAft>
              <a:buClr>
                <a:srgbClr val="273239"/>
              </a:buClr>
              <a:buSzPts val="1650"/>
              <a:buFont typeface="Nunito"/>
              <a:buChar char="●"/>
            </a:pPr>
            <a:r>
              <a:rPr b="1" lang="en" sz="1650">
                <a:solidFill>
                  <a:srgbClr val="273239"/>
                </a:solidFill>
              </a:rPr>
              <a:t>Programming</a:t>
            </a:r>
            <a:r>
              <a:rPr lang="en" sz="1650">
                <a:solidFill>
                  <a:srgbClr val="273239"/>
                </a:solidFill>
              </a:rPr>
              <a:t>: It might be challenging for developers to learn how to create and optimise algorithms for parallel processing.</a:t>
            </a:r>
            <a:endParaRPr sz="1650">
              <a:solidFill>
                <a:srgbClr val="273239"/>
              </a:solidFill>
            </a:endParaRPr>
          </a:p>
          <a:p>
            <a:pPr indent="-333375" lvl="0" marL="457200" rtl="0" algn="l">
              <a:lnSpc>
                <a:spcPct val="150000"/>
              </a:lnSpc>
              <a:spcBef>
                <a:spcPts val="0"/>
              </a:spcBef>
              <a:spcAft>
                <a:spcPts val="0"/>
              </a:spcAft>
              <a:buClr>
                <a:srgbClr val="273239"/>
              </a:buClr>
              <a:buSzPts val="1650"/>
              <a:buFont typeface="Nunito"/>
              <a:buChar char="●"/>
            </a:pPr>
            <a:r>
              <a:rPr b="1" lang="en" sz="1650">
                <a:solidFill>
                  <a:srgbClr val="273239"/>
                </a:solidFill>
              </a:rPr>
              <a:t>Support for software and tools</a:t>
            </a:r>
            <a:r>
              <a:rPr lang="en" sz="1650">
                <a:solidFill>
                  <a:srgbClr val="273239"/>
                </a:solidFill>
              </a:rPr>
              <a:t>: HPC systems need specific software and tools to function efficiently — not all software and tools are created to function with HPC equipment.</a:t>
            </a:r>
            <a:endParaRPr sz="1650">
              <a:solidFill>
                <a:srgbClr val="273239"/>
              </a:solidFill>
            </a:endParaRPr>
          </a:p>
          <a:p>
            <a:pPr indent="-333375" lvl="0" marL="457200" rtl="0" algn="l">
              <a:lnSpc>
                <a:spcPct val="150000"/>
              </a:lnSpc>
              <a:spcBef>
                <a:spcPts val="0"/>
              </a:spcBef>
              <a:spcAft>
                <a:spcPts val="0"/>
              </a:spcAft>
              <a:buClr>
                <a:srgbClr val="273239"/>
              </a:buClr>
              <a:buSzPts val="1650"/>
              <a:buFont typeface="Nunito"/>
              <a:buChar char="●"/>
            </a:pPr>
            <a:r>
              <a:rPr b="1" lang="en" sz="1650">
                <a:solidFill>
                  <a:srgbClr val="273239"/>
                </a:solidFill>
              </a:rPr>
              <a:t>Power consumption and cooling</a:t>
            </a:r>
            <a:r>
              <a:rPr lang="en" sz="1650">
                <a:solidFill>
                  <a:srgbClr val="273239"/>
                </a:solidFill>
              </a:rPr>
              <a:t>: To maintain the hardware functioning at its best, specialised cooling technologies are needed for HPC systems' high heat production. Furthermore, HPC systems consume a lot of electricity</a:t>
            </a:r>
            <a:endParaRPr sz="1650">
              <a:solidFill>
                <a:srgbClr val="273239"/>
              </a:solidFill>
            </a:endParaRPr>
          </a:p>
          <a:p>
            <a:pPr indent="0" lvl="0" marL="0" rtl="0" algn="l">
              <a:lnSpc>
                <a:spcPct val="150000"/>
              </a:lnSpc>
              <a:spcBef>
                <a:spcPts val="1800"/>
              </a:spcBef>
              <a:spcAft>
                <a:spcPts val="1200"/>
              </a:spcAft>
              <a:buNone/>
            </a:pPr>
            <a:r>
              <a:t/>
            </a:r>
            <a:endParaRPr sz="2100"/>
          </a:p>
        </p:txBody>
      </p:sp>
      <p:sp>
        <p:nvSpPr>
          <p:cNvPr id="138" name="Google Shape;138;p23"/>
          <p:cNvSpPr txBox="1"/>
          <p:nvPr>
            <p:ph idx="4294967295" type="subTitle"/>
          </p:nvPr>
        </p:nvSpPr>
        <p:spPr>
          <a:xfrm>
            <a:off x="166760" y="4678097"/>
            <a:ext cx="3682500" cy="4158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None/>
            </a:pPr>
            <a:r>
              <a:rPr lang="en" sz="1500">
                <a:solidFill>
                  <a:schemeClr val="dk1"/>
                </a:solidFill>
              </a:rPr>
              <a:t>ABI Summer School, June 2026</a:t>
            </a:r>
            <a:endParaRPr sz="15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Practical 1</a:t>
            </a:r>
            <a:endParaRPr/>
          </a:p>
        </p:txBody>
      </p:sp>
      <p:sp>
        <p:nvSpPr>
          <p:cNvPr id="144" name="Google Shape;144;p24"/>
          <p:cNvSpPr txBox="1"/>
          <p:nvPr>
            <p:ph idx="1" type="body"/>
          </p:nvPr>
        </p:nvSpPr>
        <p:spPr>
          <a:xfrm>
            <a:off x="311700" y="1152475"/>
            <a:ext cx="8103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rPr>
              <a:t>Generating ssh keys</a:t>
            </a:r>
            <a:endParaRPr sz="1500">
              <a:solidFill>
                <a:schemeClr val="dk1"/>
              </a:solidFill>
            </a:endParaRPr>
          </a:p>
          <a:p>
            <a:pPr indent="0" lvl="0" marL="0" rtl="0" algn="l">
              <a:spcBef>
                <a:spcPts val="1200"/>
              </a:spcBef>
              <a:spcAft>
                <a:spcPts val="0"/>
              </a:spcAft>
              <a:buNone/>
            </a:pPr>
            <a:r>
              <a:rPr lang="en" sz="1500">
                <a:solidFill>
                  <a:schemeClr val="dk1"/>
                </a:solidFill>
              </a:rPr>
              <a:t>Logging into the ACE-Uganda HPC cluster</a:t>
            </a:r>
            <a:endParaRPr sz="1500">
              <a:solidFill>
                <a:schemeClr val="dk1"/>
              </a:solidFill>
            </a:endParaRPr>
          </a:p>
          <a:p>
            <a:pPr indent="0" lvl="0" marL="0" rtl="0" algn="l">
              <a:spcBef>
                <a:spcPts val="1200"/>
              </a:spcBef>
              <a:spcAft>
                <a:spcPts val="0"/>
              </a:spcAft>
              <a:buNone/>
            </a:pPr>
            <a:r>
              <a:rPr lang="en" sz="1500">
                <a:solidFill>
                  <a:schemeClr val="dk1"/>
                </a:solidFill>
              </a:rPr>
              <a:t>Basic cluster architecture</a:t>
            </a:r>
            <a:endParaRPr sz="1500">
              <a:solidFill>
                <a:schemeClr val="dk1"/>
              </a:solidFill>
            </a:endParaRPr>
          </a:p>
          <a:p>
            <a:pPr indent="-323850" lvl="1" marL="914400" rtl="0" algn="l">
              <a:spcBef>
                <a:spcPts val="1200"/>
              </a:spcBef>
              <a:spcAft>
                <a:spcPts val="0"/>
              </a:spcAft>
              <a:buClr>
                <a:schemeClr val="dk1"/>
              </a:buClr>
              <a:buSzPts val="1500"/>
              <a:buChar char="-"/>
            </a:pPr>
            <a:r>
              <a:rPr lang="en" sz="1500">
                <a:solidFill>
                  <a:schemeClr val="dk1"/>
                </a:solidFill>
              </a:rPr>
              <a:t>Login node(s) vs worker nodes</a:t>
            </a:r>
            <a:endParaRPr sz="1500">
              <a:solidFill>
                <a:schemeClr val="dk1"/>
              </a:solidFill>
            </a:endParaRPr>
          </a:p>
          <a:p>
            <a:pPr indent="-323850" lvl="1" marL="914400" rtl="0" algn="l">
              <a:lnSpc>
                <a:spcPct val="100000"/>
              </a:lnSpc>
              <a:spcBef>
                <a:spcPts val="0"/>
              </a:spcBef>
              <a:spcAft>
                <a:spcPts val="0"/>
              </a:spcAft>
              <a:buClr>
                <a:schemeClr val="dk1"/>
              </a:buClr>
              <a:buSzPts val="1500"/>
              <a:buChar char="-"/>
            </a:pPr>
            <a:r>
              <a:rPr lang="en" sz="1500">
                <a:solidFill>
                  <a:schemeClr val="dk1"/>
                </a:solidFill>
              </a:rPr>
              <a:t>Directory structure on shared systems, shared storage</a:t>
            </a:r>
            <a:endParaRPr sz="1500">
              <a:solidFill>
                <a:schemeClr val="dk1"/>
              </a:solidFill>
            </a:endParaRPr>
          </a:p>
          <a:p>
            <a:pPr indent="0" lvl="0" marL="0" rtl="0" algn="l">
              <a:lnSpc>
                <a:spcPct val="100000"/>
              </a:lnSpc>
              <a:spcBef>
                <a:spcPts val="0"/>
              </a:spcBef>
              <a:spcAft>
                <a:spcPts val="0"/>
              </a:spcAft>
              <a:buNone/>
            </a:pPr>
            <a:r>
              <a:t/>
            </a:r>
            <a:endParaRPr sz="1500">
              <a:solidFill>
                <a:schemeClr val="dk1"/>
              </a:solidFill>
            </a:endParaRPr>
          </a:p>
          <a:p>
            <a:pPr indent="0" lvl="0" marL="0" rtl="0" algn="l">
              <a:spcBef>
                <a:spcPts val="0"/>
              </a:spcBef>
              <a:spcAft>
                <a:spcPts val="1200"/>
              </a:spcAft>
              <a:buNone/>
            </a:pPr>
            <a:r>
              <a:t/>
            </a:r>
            <a:endParaRPr sz="1500">
              <a:solidFill>
                <a:schemeClr val="dk1"/>
              </a:solidFill>
            </a:endParaRPr>
          </a:p>
        </p:txBody>
      </p:sp>
      <p:sp>
        <p:nvSpPr>
          <p:cNvPr id="145" name="Google Shape;145;p24"/>
          <p:cNvSpPr txBox="1"/>
          <p:nvPr>
            <p:ph idx="4294967295" type="subTitle"/>
          </p:nvPr>
        </p:nvSpPr>
        <p:spPr>
          <a:xfrm>
            <a:off x="166760" y="4741597"/>
            <a:ext cx="3682500" cy="4158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None/>
            </a:pPr>
            <a:r>
              <a:rPr lang="en" sz="1500">
                <a:solidFill>
                  <a:schemeClr val="dk1"/>
                </a:solidFill>
              </a:rPr>
              <a:t>ABI Summer School, June 2026</a:t>
            </a:r>
            <a:endParaRPr sz="15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txBox="1"/>
          <p:nvPr>
            <p:ph type="title"/>
          </p:nvPr>
        </p:nvSpPr>
        <p:spPr>
          <a:xfrm>
            <a:off x="695350" y="1784324"/>
            <a:ext cx="1840500" cy="705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SzPct val="49010"/>
              <a:buNone/>
            </a:pPr>
            <a:r>
              <a:rPr lang="en" sz="2020"/>
              <a:t>Linux / HPC </a:t>
            </a:r>
            <a:endParaRPr sz="2020"/>
          </a:p>
          <a:p>
            <a:pPr indent="0" lvl="0" marL="0" rtl="0" algn="ctr">
              <a:spcBef>
                <a:spcPts val="0"/>
              </a:spcBef>
              <a:spcAft>
                <a:spcPts val="0"/>
              </a:spcAft>
              <a:buSzPct val="49010"/>
              <a:buNone/>
            </a:pPr>
            <a:r>
              <a:rPr lang="en" sz="2020"/>
              <a:t>file structure</a:t>
            </a:r>
            <a:endParaRPr sz="2020"/>
          </a:p>
        </p:txBody>
      </p:sp>
      <p:pic>
        <p:nvPicPr>
          <p:cNvPr id="151" name="Google Shape;151;p25"/>
          <p:cNvPicPr preferRelativeResize="0"/>
          <p:nvPr/>
        </p:nvPicPr>
        <p:blipFill>
          <a:blip r:embed="rId3">
            <a:alphaModFix/>
          </a:blip>
          <a:stretch>
            <a:fillRect/>
          </a:stretch>
        </p:blipFill>
        <p:spPr>
          <a:xfrm>
            <a:off x="3363275" y="57198"/>
            <a:ext cx="5451225" cy="4796774"/>
          </a:xfrm>
          <a:prstGeom prst="rect">
            <a:avLst/>
          </a:prstGeom>
          <a:noFill/>
          <a:ln>
            <a:noFill/>
          </a:ln>
        </p:spPr>
      </p:pic>
      <p:sp>
        <p:nvSpPr>
          <p:cNvPr id="152" name="Google Shape;152;p25"/>
          <p:cNvSpPr txBox="1"/>
          <p:nvPr>
            <p:ph idx="4294967295" type="subTitle"/>
          </p:nvPr>
        </p:nvSpPr>
        <p:spPr>
          <a:xfrm>
            <a:off x="166760" y="4741597"/>
            <a:ext cx="3682500" cy="4158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None/>
            </a:pPr>
            <a:r>
              <a:rPr lang="en" sz="1500">
                <a:solidFill>
                  <a:schemeClr val="dk1"/>
                </a:solidFill>
              </a:rPr>
              <a:t>ABI Summer School, June 2026</a:t>
            </a:r>
            <a:endParaRPr sz="1500">
              <a:solidFill>
                <a:schemeClr val="dk1"/>
              </a:solidFill>
            </a:endParaRPr>
          </a:p>
        </p:txBody>
      </p:sp>
      <p:sp>
        <p:nvSpPr>
          <p:cNvPr id="153" name="Google Shape;153;p25"/>
          <p:cNvSpPr txBox="1"/>
          <p:nvPr/>
        </p:nvSpPr>
        <p:spPr>
          <a:xfrm>
            <a:off x="6150022" y="4833854"/>
            <a:ext cx="2807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hlink"/>
                </a:solidFill>
                <a:hlinkClick r:id="rId4"/>
              </a:rPr>
              <a:t>https://www.geeksforgeeks.org/linux-unix/</a:t>
            </a:r>
            <a:endParaRPr/>
          </a:p>
        </p:txBody>
      </p:sp>
      <p:sp>
        <p:nvSpPr>
          <p:cNvPr id="154" name="Google Shape;154;p25"/>
          <p:cNvSpPr txBox="1"/>
          <p:nvPr/>
        </p:nvSpPr>
        <p:spPr>
          <a:xfrm>
            <a:off x="3435821" y="2208739"/>
            <a:ext cx="6441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rPr>
              <a:t>Root</a:t>
            </a:r>
            <a:endParaRPr sz="12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Practical 1: continued</a:t>
            </a:r>
            <a:endParaRPr/>
          </a:p>
        </p:txBody>
      </p:sp>
      <p:sp>
        <p:nvSpPr>
          <p:cNvPr id="160" name="Google Shape;160;p26"/>
          <p:cNvSpPr txBox="1"/>
          <p:nvPr>
            <p:ph idx="1" type="body"/>
          </p:nvPr>
        </p:nvSpPr>
        <p:spPr>
          <a:xfrm>
            <a:off x="311700" y="1152475"/>
            <a:ext cx="81039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500">
                <a:solidFill>
                  <a:schemeClr val="dk1"/>
                </a:solidFill>
              </a:rPr>
              <a:t>Task 1</a:t>
            </a:r>
            <a:r>
              <a:rPr lang="en" sz="1500">
                <a:solidFill>
                  <a:schemeClr val="dk1"/>
                </a:solidFill>
              </a:rPr>
              <a:t>: Explore the ACE cluster filesystem, check available modules (module avail), load one (conda), and observe how the environment changes.</a:t>
            </a:r>
            <a:endParaRPr sz="1500">
              <a:solidFill>
                <a:schemeClr val="dk1"/>
              </a:solidFill>
            </a:endParaRPr>
          </a:p>
          <a:p>
            <a:pPr indent="0" lvl="0" marL="0" rtl="0" algn="l">
              <a:spcBef>
                <a:spcPts val="0"/>
              </a:spcBef>
              <a:spcAft>
                <a:spcPts val="1200"/>
              </a:spcAft>
              <a:buNone/>
            </a:pPr>
            <a:r>
              <a:t/>
            </a:r>
            <a:endParaRPr sz="1500">
              <a:solidFill>
                <a:schemeClr val="dk1"/>
              </a:solidFill>
            </a:endParaRPr>
          </a:p>
        </p:txBody>
      </p:sp>
      <p:sp>
        <p:nvSpPr>
          <p:cNvPr id="161" name="Google Shape;161;p26"/>
          <p:cNvSpPr txBox="1"/>
          <p:nvPr>
            <p:ph idx="4294967295" type="subTitle"/>
          </p:nvPr>
        </p:nvSpPr>
        <p:spPr>
          <a:xfrm>
            <a:off x="166760" y="4741597"/>
            <a:ext cx="3682500" cy="4158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None/>
            </a:pPr>
            <a:r>
              <a:rPr lang="en" sz="1500">
                <a:solidFill>
                  <a:schemeClr val="dk1"/>
                </a:solidFill>
              </a:rPr>
              <a:t>ABI Summer School, June 2026</a:t>
            </a:r>
            <a:endParaRPr sz="15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